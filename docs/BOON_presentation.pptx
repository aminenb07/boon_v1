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hanga" panose="020B0604020202020204" charset="-78"/>
      <p:regular r:id="rId14"/>
    </p:embeddedFont>
    <p:embeddedFont>
      <p:font typeface="Changa Bold" panose="020B0604020202020204" charset="-78"/>
      <p:regular r:id="rId15"/>
    </p:embeddedFont>
    <p:embeddedFont>
      <p:font typeface="Changa Medium" panose="020B0604020202020204" charset="-78"/>
      <p:regular r:id="rId16"/>
    </p:embeddedFont>
    <p:embeddedFont>
      <p:font typeface="Changa Semi-Bold" panose="020B0604020202020204" charset="-78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22" autoAdjust="0"/>
  </p:normalViewPr>
  <p:slideViewPr>
    <p:cSldViewPr>
      <p:cViewPr varScale="1">
        <p:scale>
          <a:sx n="15" d="100"/>
          <a:sy n="15" d="100"/>
        </p:scale>
        <p:origin x="1145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.sv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svg"/><Relationship Id="rId4" Type="http://schemas.openxmlformats.org/officeDocument/2006/relationships/image" Target="../media/image11.png"/><Relationship Id="rId9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030936" cy="3030936"/>
          </a:xfrm>
          <a:custGeom>
            <a:avLst/>
            <a:gdLst/>
            <a:ahLst/>
            <a:cxnLst/>
            <a:rect l="l" t="t" r="r" b="b"/>
            <a:pathLst>
              <a:path w="3030936" h="3030936">
                <a:moveTo>
                  <a:pt x="0" y="0"/>
                </a:moveTo>
                <a:lnTo>
                  <a:pt x="3030936" y="0"/>
                </a:lnTo>
                <a:lnTo>
                  <a:pt x="3030936" y="3030936"/>
                </a:lnTo>
                <a:lnTo>
                  <a:pt x="0" y="303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ar-MA"/>
          </a:p>
        </p:txBody>
      </p:sp>
      <p:sp>
        <p:nvSpPr>
          <p:cNvPr id="3" name="Freeform 3"/>
          <p:cNvSpPr/>
          <p:nvPr/>
        </p:nvSpPr>
        <p:spPr>
          <a:xfrm>
            <a:off x="3030936" y="3030936"/>
            <a:ext cx="4225127" cy="4225127"/>
          </a:xfrm>
          <a:custGeom>
            <a:avLst/>
            <a:gdLst/>
            <a:ahLst/>
            <a:cxnLst/>
            <a:rect l="l" t="t" r="r" b="b"/>
            <a:pathLst>
              <a:path w="4225127" h="4225127">
                <a:moveTo>
                  <a:pt x="0" y="0"/>
                </a:moveTo>
                <a:lnTo>
                  <a:pt x="4225128" y="0"/>
                </a:lnTo>
                <a:lnTo>
                  <a:pt x="4225128" y="4225128"/>
                </a:lnTo>
                <a:lnTo>
                  <a:pt x="0" y="4225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ar-MA"/>
          </a:p>
        </p:txBody>
      </p:sp>
      <p:sp>
        <p:nvSpPr>
          <p:cNvPr id="4" name="Freeform 4"/>
          <p:cNvSpPr/>
          <p:nvPr/>
        </p:nvSpPr>
        <p:spPr>
          <a:xfrm rot="-10800000">
            <a:off x="7256064" y="7237014"/>
            <a:ext cx="3030936" cy="3030936"/>
          </a:xfrm>
          <a:custGeom>
            <a:avLst/>
            <a:gdLst/>
            <a:ahLst/>
            <a:cxnLst/>
            <a:rect l="l" t="t" r="r" b="b"/>
            <a:pathLst>
              <a:path w="3030936" h="3030936">
                <a:moveTo>
                  <a:pt x="0" y="0"/>
                </a:moveTo>
                <a:lnTo>
                  <a:pt x="3030936" y="0"/>
                </a:lnTo>
                <a:lnTo>
                  <a:pt x="3030936" y="3030936"/>
                </a:lnTo>
                <a:lnTo>
                  <a:pt x="0" y="3030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ar-MA"/>
          </a:p>
        </p:txBody>
      </p:sp>
      <p:sp>
        <p:nvSpPr>
          <p:cNvPr id="5" name="Freeform 5"/>
          <p:cNvSpPr/>
          <p:nvPr/>
        </p:nvSpPr>
        <p:spPr>
          <a:xfrm>
            <a:off x="1673" y="4225127"/>
            <a:ext cx="3030936" cy="3030936"/>
          </a:xfrm>
          <a:custGeom>
            <a:avLst/>
            <a:gdLst/>
            <a:ahLst/>
            <a:cxnLst/>
            <a:rect l="l" t="t" r="r" b="b"/>
            <a:pathLst>
              <a:path w="3030936" h="3030936">
                <a:moveTo>
                  <a:pt x="0" y="0"/>
                </a:moveTo>
                <a:lnTo>
                  <a:pt x="3030936" y="0"/>
                </a:lnTo>
                <a:lnTo>
                  <a:pt x="3030936" y="3030937"/>
                </a:lnTo>
                <a:lnTo>
                  <a:pt x="0" y="30309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ar-MA"/>
          </a:p>
        </p:txBody>
      </p:sp>
      <p:sp>
        <p:nvSpPr>
          <p:cNvPr id="6" name="Freeform 6"/>
          <p:cNvSpPr/>
          <p:nvPr/>
        </p:nvSpPr>
        <p:spPr>
          <a:xfrm>
            <a:off x="3030936" y="7237014"/>
            <a:ext cx="3030936" cy="3030936"/>
          </a:xfrm>
          <a:custGeom>
            <a:avLst/>
            <a:gdLst/>
            <a:ahLst/>
            <a:cxnLst/>
            <a:rect l="l" t="t" r="r" b="b"/>
            <a:pathLst>
              <a:path w="3030936" h="3030936">
                <a:moveTo>
                  <a:pt x="0" y="0"/>
                </a:moveTo>
                <a:lnTo>
                  <a:pt x="3030937" y="0"/>
                </a:lnTo>
                <a:lnTo>
                  <a:pt x="3030937" y="3030936"/>
                </a:lnTo>
                <a:lnTo>
                  <a:pt x="0" y="303093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ar-MA"/>
          </a:p>
        </p:txBody>
      </p:sp>
      <p:sp>
        <p:nvSpPr>
          <p:cNvPr id="7" name="Freeform 7"/>
          <p:cNvSpPr/>
          <p:nvPr/>
        </p:nvSpPr>
        <p:spPr>
          <a:xfrm>
            <a:off x="15369315" y="7368315"/>
            <a:ext cx="2918685" cy="2918685"/>
          </a:xfrm>
          <a:custGeom>
            <a:avLst/>
            <a:gdLst/>
            <a:ahLst/>
            <a:cxnLst/>
            <a:rect l="l" t="t" r="r" b="b"/>
            <a:pathLst>
              <a:path w="2918685" h="2918685">
                <a:moveTo>
                  <a:pt x="0" y="0"/>
                </a:moveTo>
                <a:lnTo>
                  <a:pt x="2918685" y="0"/>
                </a:lnTo>
                <a:lnTo>
                  <a:pt x="2918685" y="2918685"/>
                </a:lnTo>
                <a:lnTo>
                  <a:pt x="0" y="29186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8" name="Freeform 8"/>
          <p:cNvSpPr/>
          <p:nvPr/>
        </p:nvSpPr>
        <p:spPr>
          <a:xfrm>
            <a:off x="13532170" y="7770382"/>
            <a:ext cx="2114550" cy="2114550"/>
          </a:xfrm>
          <a:custGeom>
            <a:avLst/>
            <a:gdLst/>
            <a:ahLst/>
            <a:cxnLst/>
            <a:rect l="l" t="t" r="r" b="b"/>
            <a:pathLst>
              <a:path w="2114550" h="2114550">
                <a:moveTo>
                  <a:pt x="0" y="0"/>
                </a:moveTo>
                <a:lnTo>
                  <a:pt x="2114550" y="0"/>
                </a:lnTo>
                <a:lnTo>
                  <a:pt x="2114550" y="2114550"/>
                </a:lnTo>
                <a:lnTo>
                  <a:pt x="0" y="21145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9" name="TextBox 9"/>
          <p:cNvSpPr txBox="1"/>
          <p:nvPr/>
        </p:nvSpPr>
        <p:spPr>
          <a:xfrm>
            <a:off x="3105193" y="628335"/>
            <a:ext cx="14363614" cy="2402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9113"/>
              </a:lnSpc>
            </a:pPr>
            <a:r>
              <a:rPr lang="en-US" sz="7594" b="1">
                <a:solidFill>
                  <a:srgbClr val="000000"/>
                </a:solidFill>
                <a:latin typeface="Changa Bold"/>
                <a:ea typeface="Changa Bold"/>
                <a:cs typeface="Changa Bold"/>
                <a:sym typeface="Changa Bold"/>
              </a:rPr>
              <a:t>BOON - Gestion des Documents de Construction</a:t>
            </a:r>
          </a:p>
          <a:p>
            <a:pPr algn="r" rtl="1">
              <a:lnSpc>
                <a:spcPts val="716"/>
              </a:lnSpc>
            </a:pPr>
            <a:endParaRPr lang="en-US" sz="7594" b="1">
              <a:solidFill>
                <a:srgbClr val="000000"/>
              </a:solidFill>
              <a:latin typeface="Changa Bold"/>
              <a:ea typeface="Changa Bold"/>
              <a:cs typeface="Changa Bold"/>
              <a:sym typeface="Changa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847665" y="3021411"/>
            <a:ext cx="9621143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3600"/>
              </a:lnSpc>
            </a:pPr>
            <a:r>
              <a:rPr lang="en-US" sz="3000" b="1">
                <a:solidFill>
                  <a:srgbClr val="000000"/>
                </a:solidFill>
                <a:latin typeface="Changa Medium"/>
                <a:ea typeface="Changa Medium"/>
                <a:cs typeface="Changa Medium"/>
                <a:sym typeface="Changa Medium"/>
              </a:rPr>
              <a:t>Système collaboratif pour les chantiers de construction</a:t>
            </a:r>
          </a:p>
          <a:p>
            <a:pPr algn="r" rtl="1">
              <a:lnSpc>
                <a:spcPts val="3600"/>
              </a:lnSpc>
            </a:pPr>
            <a:endParaRPr lang="en-US" sz="3000" b="1">
              <a:solidFill>
                <a:srgbClr val="000000"/>
              </a:solidFill>
              <a:latin typeface="Changa Medium"/>
              <a:ea typeface="Changa Medium"/>
              <a:cs typeface="Changa Medium"/>
              <a:sym typeface="Changa Mediu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04843" y="4552950"/>
            <a:ext cx="5327327" cy="208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b="1">
                <a:solidFill>
                  <a:srgbClr val="000000"/>
                </a:solidFill>
                <a:latin typeface="Changa Medium"/>
                <a:ea typeface="Changa Medium"/>
                <a:cs typeface="Changa Medium"/>
                <a:sym typeface="Changa Medium"/>
              </a:rPr>
              <a:t>OFPPT - Soutenance de projet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hanga"/>
                <a:ea typeface="Changa"/>
                <a:cs typeface="Changa"/>
                <a:sym typeface="Changa"/>
              </a:rPr>
              <a:t>Auteur: Amine Nabou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hanga"/>
                <a:ea typeface="Changa"/>
                <a:cs typeface="Changa"/>
                <a:sym typeface="Changa"/>
              </a:rPr>
              <a:t>Filière: DevOWFS 204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hanga"/>
                <a:ea typeface="Changa"/>
                <a:cs typeface="Changa"/>
                <a:sym typeface="Changa"/>
              </a:rPr>
              <a:t>Année: 2026</a:t>
            </a:r>
          </a:p>
          <a:p>
            <a:pPr algn="l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24952" y="1028700"/>
            <a:ext cx="5915372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00"/>
              </a:lnSpc>
            </a:pPr>
            <a:r>
              <a:rPr lang="en-US" sz="9500" b="1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Sommaire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0" y="-9886"/>
            <a:ext cx="4158801" cy="10296886"/>
            <a:chOff x="0" y="0"/>
            <a:chExt cx="1095322" cy="271193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5322" cy="2711937"/>
            </a:xfrm>
            <a:custGeom>
              <a:avLst/>
              <a:gdLst/>
              <a:ahLst/>
              <a:cxnLst/>
              <a:rect l="l" t="t" r="r" b="b"/>
              <a:pathLst>
                <a:path w="1095322" h="2711937">
                  <a:moveTo>
                    <a:pt x="0" y="0"/>
                  </a:moveTo>
                  <a:lnTo>
                    <a:pt x="1095322" y="0"/>
                  </a:lnTo>
                  <a:lnTo>
                    <a:pt x="1095322" y="2711937"/>
                  </a:lnTo>
                  <a:lnTo>
                    <a:pt x="0" y="2711937"/>
                  </a:lnTo>
                  <a:close/>
                </a:path>
              </a:pathLst>
            </a:custGeom>
            <a:solidFill>
              <a:srgbClr val="0916A2"/>
            </a:solidFill>
          </p:spPr>
          <p:txBody>
            <a:bodyPr/>
            <a:lstStyle/>
            <a:p>
              <a:endParaRPr lang="ar-M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9525"/>
              <a:ext cx="1095322" cy="27024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-9886"/>
            <a:ext cx="4225127" cy="4225127"/>
          </a:xfrm>
          <a:custGeom>
            <a:avLst/>
            <a:gdLst/>
            <a:ahLst/>
            <a:cxnLst/>
            <a:rect l="l" t="t" r="r" b="b"/>
            <a:pathLst>
              <a:path w="4225127" h="4225127">
                <a:moveTo>
                  <a:pt x="0" y="0"/>
                </a:moveTo>
                <a:lnTo>
                  <a:pt x="4225127" y="0"/>
                </a:lnTo>
                <a:lnTo>
                  <a:pt x="4225127" y="4225127"/>
                </a:lnTo>
                <a:lnTo>
                  <a:pt x="0" y="422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7" name="Freeform 7"/>
          <p:cNvSpPr/>
          <p:nvPr/>
        </p:nvSpPr>
        <p:spPr>
          <a:xfrm rot="-10800000">
            <a:off x="0" y="4144134"/>
            <a:ext cx="1998732" cy="1998732"/>
          </a:xfrm>
          <a:custGeom>
            <a:avLst/>
            <a:gdLst/>
            <a:ahLst/>
            <a:cxnLst/>
            <a:rect l="l" t="t" r="r" b="b"/>
            <a:pathLst>
              <a:path w="1998732" h="1998732">
                <a:moveTo>
                  <a:pt x="0" y="0"/>
                </a:moveTo>
                <a:lnTo>
                  <a:pt x="1998732" y="0"/>
                </a:lnTo>
                <a:lnTo>
                  <a:pt x="1998732" y="1998732"/>
                </a:lnTo>
                <a:lnTo>
                  <a:pt x="0" y="19987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8" name="Freeform 8"/>
          <p:cNvSpPr/>
          <p:nvPr/>
        </p:nvSpPr>
        <p:spPr>
          <a:xfrm>
            <a:off x="1998732" y="6061873"/>
            <a:ext cx="2226395" cy="2226395"/>
          </a:xfrm>
          <a:custGeom>
            <a:avLst/>
            <a:gdLst/>
            <a:ahLst/>
            <a:cxnLst/>
            <a:rect l="l" t="t" r="r" b="b"/>
            <a:pathLst>
              <a:path w="2226395" h="2226395">
                <a:moveTo>
                  <a:pt x="0" y="0"/>
                </a:moveTo>
                <a:lnTo>
                  <a:pt x="2226395" y="0"/>
                </a:lnTo>
                <a:lnTo>
                  <a:pt x="2226395" y="2226395"/>
                </a:lnTo>
                <a:lnTo>
                  <a:pt x="0" y="222639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ar-MA"/>
          </a:p>
        </p:txBody>
      </p:sp>
      <p:sp>
        <p:nvSpPr>
          <p:cNvPr id="9" name="Freeform 9"/>
          <p:cNvSpPr/>
          <p:nvPr/>
        </p:nvSpPr>
        <p:spPr>
          <a:xfrm>
            <a:off x="0" y="8288268"/>
            <a:ext cx="1998732" cy="1998732"/>
          </a:xfrm>
          <a:custGeom>
            <a:avLst/>
            <a:gdLst/>
            <a:ahLst/>
            <a:cxnLst/>
            <a:rect l="l" t="t" r="r" b="b"/>
            <a:pathLst>
              <a:path w="1998732" h="1998732">
                <a:moveTo>
                  <a:pt x="0" y="0"/>
                </a:moveTo>
                <a:lnTo>
                  <a:pt x="1998732" y="0"/>
                </a:lnTo>
                <a:lnTo>
                  <a:pt x="1998732" y="1998732"/>
                </a:lnTo>
                <a:lnTo>
                  <a:pt x="0" y="19987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10" name="TextBox 10"/>
          <p:cNvSpPr txBox="1"/>
          <p:nvPr/>
        </p:nvSpPr>
        <p:spPr>
          <a:xfrm>
            <a:off x="4924952" y="3604534"/>
            <a:ext cx="10699689" cy="5386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0658" lvl="1" indent="-375329" algn="l">
              <a:lnSpc>
                <a:spcPts val="4172"/>
              </a:lnSpc>
              <a:buFont typeface="Arial"/>
              <a:buChar char="•"/>
            </a:pPr>
            <a:r>
              <a:rPr lang="en-US" sz="3476" b="1" dirty="0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 Introduction &amp; </a:t>
            </a:r>
            <a:r>
              <a:rPr lang="en-US" sz="3476" b="1" dirty="0" err="1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objectifs</a:t>
            </a:r>
            <a:endParaRPr lang="en-US" sz="3476" b="1" dirty="0">
              <a:solidFill>
                <a:srgbClr val="0916A2"/>
              </a:solidFill>
              <a:latin typeface="Changa Medium"/>
              <a:ea typeface="Changa Medium"/>
              <a:cs typeface="Changa Medium"/>
              <a:sym typeface="Changa Medium"/>
            </a:endParaRPr>
          </a:p>
          <a:p>
            <a:pPr marL="750658" lvl="1" indent="-375329" algn="l">
              <a:lnSpc>
                <a:spcPts val="4172"/>
              </a:lnSpc>
              <a:buFont typeface="Arial"/>
              <a:buChar char="•"/>
            </a:pPr>
            <a:r>
              <a:rPr lang="en-US" sz="3476" b="1" dirty="0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 </a:t>
            </a:r>
            <a:r>
              <a:rPr lang="en-US" sz="3476" b="1" dirty="0" err="1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Problématique</a:t>
            </a:r>
            <a:endParaRPr lang="en-US" sz="3476" b="1" dirty="0">
              <a:solidFill>
                <a:srgbClr val="0916A2"/>
              </a:solidFill>
              <a:latin typeface="Changa Medium"/>
              <a:ea typeface="Changa Medium"/>
              <a:cs typeface="Changa Medium"/>
              <a:sym typeface="Changa Medium"/>
            </a:endParaRPr>
          </a:p>
          <a:p>
            <a:pPr marL="750658" lvl="1" indent="-375329" algn="l">
              <a:lnSpc>
                <a:spcPts val="4172"/>
              </a:lnSpc>
              <a:buFont typeface="Arial"/>
              <a:buChar char="•"/>
            </a:pPr>
            <a:r>
              <a:rPr lang="en-US" sz="3476" b="1" dirty="0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 </a:t>
            </a:r>
            <a:r>
              <a:rPr lang="en-US" sz="3476" b="1" dirty="0" err="1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Fonctionnalités</a:t>
            </a:r>
            <a:r>
              <a:rPr lang="en-US" sz="3476" b="1" dirty="0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 </a:t>
            </a:r>
            <a:r>
              <a:rPr lang="en-US" sz="3476" b="1" dirty="0" err="1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principales</a:t>
            </a:r>
            <a:endParaRPr lang="en-US" sz="3476" b="1" dirty="0">
              <a:solidFill>
                <a:srgbClr val="0916A2"/>
              </a:solidFill>
              <a:latin typeface="Changa Medium"/>
              <a:ea typeface="Changa Medium"/>
              <a:cs typeface="Changa Medium"/>
              <a:sym typeface="Changa Medium"/>
            </a:endParaRPr>
          </a:p>
          <a:p>
            <a:pPr marL="750658" lvl="1" indent="-375329" algn="l">
              <a:lnSpc>
                <a:spcPts val="4172"/>
              </a:lnSpc>
              <a:buFont typeface="Arial"/>
              <a:buChar char="•"/>
            </a:pPr>
            <a:r>
              <a:rPr lang="en-US" sz="3476" b="1" dirty="0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 Conception (</a:t>
            </a:r>
            <a:r>
              <a:rPr lang="en-US" sz="3476" b="1" dirty="0" err="1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Diagrammes</a:t>
            </a:r>
            <a:r>
              <a:rPr lang="en-US" sz="3476" b="1" dirty="0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)</a:t>
            </a:r>
          </a:p>
          <a:p>
            <a:pPr marL="750658" lvl="1" indent="-375329" algn="l">
              <a:lnSpc>
                <a:spcPts val="4172"/>
              </a:lnSpc>
              <a:buFont typeface="Arial"/>
              <a:buChar char="•"/>
            </a:pPr>
            <a:r>
              <a:rPr lang="en-US" sz="3476" b="1" dirty="0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 Choix techniques</a:t>
            </a:r>
          </a:p>
          <a:p>
            <a:pPr marL="750658" lvl="1" indent="-375329" algn="l">
              <a:lnSpc>
                <a:spcPts val="4172"/>
              </a:lnSpc>
              <a:buFont typeface="Arial"/>
              <a:buChar char="•"/>
            </a:pPr>
            <a:r>
              <a:rPr lang="en-US" sz="3476" b="1" dirty="0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 </a:t>
            </a:r>
            <a:r>
              <a:rPr lang="en-US" sz="3476" b="1" dirty="0" err="1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Réalisation</a:t>
            </a:r>
            <a:r>
              <a:rPr lang="en-US" sz="3476" b="1" dirty="0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 (</a:t>
            </a:r>
            <a:r>
              <a:rPr lang="en-US" sz="3476" b="1" dirty="0" err="1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démonstration</a:t>
            </a:r>
            <a:r>
              <a:rPr lang="en-US" sz="3476" b="1" dirty="0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)</a:t>
            </a:r>
          </a:p>
          <a:p>
            <a:pPr marL="750658" lvl="1" indent="-375329" algn="l">
              <a:lnSpc>
                <a:spcPts val="4172"/>
              </a:lnSpc>
              <a:buFont typeface="Arial"/>
              <a:buChar char="•"/>
            </a:pPr>
            <a:r>
              <a:rPr lang="en-US" sz="3476" b="1" dirty="0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 </a:t>
            </a:r>
            <a:r>
              <a:rPr lang="en-US" sz="3476" b="1" dirty="0" err="1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Difficultés</a:t>
            </a:r>
            <a:r>
              <a:rPr lang="en-US" sz="3476" b="1" dirty="0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 </a:t>
            </a:r>
            <a:r>
              <a:rPr lang="en-US" sz="3476" b="1" dirty="0" err="1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rencontrées</a:t>
            </a:r>
            <a:endParaRPr lang="en-US" sz="3476" b="1" dirty="0">
              <a:solidFill>
                <a:srgbClr val="0916A2"/>
              </a:solidFill>
              <a:latin typeface="Changa Medium"/>
              <a:ea typeface="Changa Medium"/>
              <a:cs typeface="Changa Medium"/>
              <a:sym typeface="Changa Medium"/>
            </a:endParaRPr>
          </a:p>
          <a:p>
            <a:pPr marL="750658" lvl="1" indent="-375329" algn="l">
              <a:lnSpc>
                <a:spcPts val="4172"/>
              </a:lnSpc>
              <a:buFont typeface="Arial"/>
              <a:buChar char="•"/>
            </a:pPr>
            <a:r>
              <a:rPr lang="en-US" sz="3476" b="1" dirty="0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 Bilan &amp; </a:t>
            </a:r>
            <a:r>
              <a:rPr lang="en-US" sz="3476" b="1" dirty="0" err="1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améliorations</a:t>
            </a:r>
            <a:r>
              <a:rPr lang="en-US" sz="3476" b="1" dirty="0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 possibles</a:t>
            </a:r>
          </a:p>
          <a:p>
            <a:pPr marL="750658" lvl="1" indent="-375329">
              <a:lnSpc>
                <a:spcPts val="4172"/>
              </a:lnSpc>
              <a:buFont typeface="Arial"/>
              <a:buChar char="•"/>
            </a:pPr>
            <a:r>
              <a:rPr lang="en-US" sz="3600" b="1" dirty="0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 Flux </a:t>
            </a:r>
            <a:r>
              <a:rPr lang="en-US" sz="3600" b="1" dirty="0" err="1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Utilisateur</a:t>
            </a:r>
            <a:endParaRPr lang="en-US" sz="3476" b="1" dirty="0">
              <a:solidFill>
                <a:srgbClr val="0916A2"/>
              </a:solidFill>
              <a:latin typeface="Changa Medium"/>
              <a:ea typeface="Changa Medium"/>
              <a:cs typeface="Changa Medium"/>
              <a:sym typeface="Changa Medium"/>
            </a:endParaRPr>
          </a:p>
          <a:p>
            <a:pPr marL="750658" lvl="1" indent="-375329" algn="l">
              <a:lnSpc>
                <a:spcPts val="4172"/>
              </a:lnSpc>
              <a:spcBef>
                <a:spcPct val="0"/>
              </a:spcBef>
              <a:buFont typeface="Arial"/>
              <a:buChar char="•"/>
            </a:pPr>
            <a:r>
              <a:rPr lang="en-US" sz="3476" b="1" dirty="0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 Conclusion &amp; questions</a:t>
            </a:r>
          </a:p>
        </p:txBody>
      </p:sp>
      <p:sp>
        <p:nvSpPr>
          <p:cNvPr id="11" name="Freeform 11"/>
          <p:cNvSpPr/>
          <p:nvPr/>
        </p:nvSpPr>
        <p:spPr>
          <a:xfrm>
            <a:off x="15369315" y="7368315"/>
            <a:ext cx="2918685" cy="2918685"/>
          </a:xfrm>
          <a:custGeom>
            <a:avLst/>
            <a:gdLst/>
            <a:ahLst/>
            <a:cxnLst/>
            <a:rect l="l" t="t" r="r" b="b"/>
            <a:pathLst>
              <a:path w="2918685" h="2918685">
                <a:moveTo>
                  <a:pt x="0" y="0"/>
                </a:moveTo>
                <a:lnTo>
                  <a:pt x="2918685" y="0"/>
                </a:lnTo>
                <a:lnTo>
                  <a:pt x="2918685" y="2918685"/>
                </a:lnTo>
                <a:lnTo>
                  <a:pt x="0" y="29186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5130196"/>
            <a:ext cx="5156804" cy="5156804"/>
          </a:xfrm>
          <a:custGeom>
            <a:avLst/>
            <a:gdLst/>
            <a:ahLst/>
            <a:cxnLst/>
            <a:rect l="l" t="t" r="r" b="b"/>
            <a:pathLst>
              <a:path w="5156804" h="5156804">
                <a:moveTo>
                  <a:pt x="0" y="0"/>
                </a:moveTo>
                <a:lnTo>
                  <a:pt x="5156804" y="0"/>
                </a:lnTo>
                <a:lnTo>
                  <a:pt x="5156804" y="5156804"/>
                </a:lnTo>
                <a:lnTo>
                  <a:pt x="0" y="51568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3" name="Freeform 3"/>
          <p:cNvSpPr/>
          <p:nvPr/>
        </p:nvSpPr>
        <p:spPr>
          <a:xfrm rot="-10800000" flipV="1">
            <a:off x="0" y="0"/>
            <a:ext cx="5156804" cy="5156804"/>
          </a:xfrm>
          <a:custGeom>
            <a:avLst/>
            <a:gdLst/>
            <a:ahLst/>
            <a:cxnLst/>
            <a:rect l="l" t="t" r="r" b="b"/>
            <a:pathLst>
              <a:path w="5156804" h="5156804">
                <a:moveTo>
                  <a:pt x="0" y="5156804"/>
                </a:moveTo>
                <a:lnTo>
                  <a:pt x="5156804" y="5156804"/>
                </a:lnTo>
                <a:lnTo>
                  <a:pt x="5156804" y="0"/>
                </a:lnTo>
                <a:lnTo>
                  <a:pt x="0" y="0"/>
                </a:lnTo>
                <a:lnTo>
                  <a:pt x="0" y="515680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4" name="Freeform 4"/>
          <p:cNvSpPr/>
          <p:nvPr/>
        </p:nvSpPr>
        <p:spPr>
          <a:xfrm>
            <a:off x="15369315" y="7368315"/>
            <a:ext cx="2918685" cy="2918685"/>
          </a:xfrm>
          <a:custGeom>
            <a:avLst/>
            <a:gdLst/>
            <a:ahLst/>
            <a:cxnLst/>
            <a:rect l="l" t="t" r="r" b="b"/>
            <a:pathLst>
              <a:path w="2918685" h="2918685">
                <a:moveTo>
                  <a:pt x="0" y="0"/>
                </a:moveTo>
                <a:lnTo>
                  <a:pt x="2918685" y="0"/>
                </a:lnTo>
                <a:lnTo>
                  <a:pt x="2918685" y="2918685"/>
                </a:lnTo>
                <a:lnTo>
                  <a:pt x="0" y="2918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5" name="TextBox 5"/>
          <p:cNvSpPr txBox="1"/>
          <p:nvPr/>
        </p:nvSpPr>
        <p:spPr>
          <a:xfrm>
            <a:off x="5540037" y="644932"/>
            <a:ext cx="12747963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00"/>
              </a:lnSpc>
            </a:pPr>
            <a:r>
              <a:rPr lang="en-US" sz="9500" b="1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Introduction  objectifs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540037" y="2371784"/>
            <a:ext cx="12095900" cy="5560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4608" lvl="1" indent="-307304" algn="l">
              <a:lnSpc>
                <a:spcPts val="3416"/>
              </a:lnSpc>
              <a:buFont typeface="Arial"/>
              <a:buChar char="•"/>
            </a:pPr>
            <a:r>
              <a:rPr lang="en-US" sz="2846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PRÉSENTATION GÉNÉRALE : APPLICATION WEB COLLABORATIVE POUR GÉRER LES DOCUMENTS SUR LES CHANTIERS DE CONSTRUCTION (BONS DE COMMANDE, FACTURES, DEVIS)</a:t>
            </a:r>
          </a:p>
          <a:p>
            <a:pPr marL="614608" lvl="1" indent="-307304" algn="l">
              <a:lnSpc>
                <a:spcPts val="3416"/>
              </a:lnSpc>
              <a:buFont typeface="Arial"/>
              <a:buChar char="•"/>
            </a:pPr>
            <a:r>
              <a:rPr lang="en-US" sz="2846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POURQUOI CE PROJET ? : BESOIN IDENTIFIÉ DANS LE SECTEUR DE LA CONSTRUCTION : GESTION PAPIER PEU PRATIQUE, MANQUE DE TRAÇABILITÉ, DIFFICULTÉ DE COMMUNICATION ENTRE LES ACTEURS</a:t>
            </a:r>
          </a:p>
          <a:p>
            <a:pPr marL="614608" lvl="1" indent="-307304" algn="l">
              <a:lnSpc>
                <a:spcPts val="3416"/>
              </a:lnSpc>
              <a:buFont typeface="Arial"/>
              <a:buChar char="•"/>
            </a:pPr>
            <a:r>
              <a:rPr lang="en-US" sz="2846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OBJECTIFS VISÉS :</a:t>
            </a:r>
          </a:p>
          <a:p>
            <a:pPr algn="l">
              <a:lnSpc>
                <a:spcPts val="3416"/>
              </a:lnSpc>
            </a:pPr>
            <a:r>
              <a:rPr lang="en-US" sz="2846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       • CENTRALISER TOUS LES DOCUMENTS DES CHANTIERS</a:t>
            </a:r>
          </a:p>
          <a:p>
            <a:pPr algn="l">
              <a:lnSpc>
                <a:spcPts val="3416"/>
              </a:lnSpc>
            </a:pPr>
            <a:r>
              <a:rPr lang="en-US" sz="2846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       • FACILITER LA COLLABORATION ENTRE PROPRIÉTAIRES, OUVRIERS ET      FOURNISSEURS</a:t>
            </a:r>
          </a:p>
          <a:p>
            <a:pPr algn="l">
              <a:lnSpc>
                <a:spcPts val="3416"/>
              </a:lnSpc>
            </a:pPr>
            <a:r>
              <a:rPr lang="en-US" sz="2846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       • GÉNÉRER DES PDF PROFESSIONNELS AUTOMATIQUEMENT</a:t>
            </a:r>
          </a:p>
          <a:p>
            <a:pPr algn="l">
              <a:lnSpc>
                <a:spcPts val="3416"/>
              </a:lnSpc>
            </a:pPr>
            <a:r>
              <a:rPr lang="en-US" sz="2846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       • SIMPLIFIER LE PARTAGE DES DOCUMENTS (WHATSAPP, LIENS)</a:t>
            </a:r>
          </a:p>
          <a:p>
            <a:pPr algn="l">
              <a:lnSpc>
                <a:spcPts val="3416"/>
              </a:lnSpc>
            </a:pPr>
            <a:endParaRPr lang="en-US" sz="2846">
              <a:solidFill>
                <a:srgbClr val="0916A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030936" cy="3030936"/>
          </a:xfrm>
          <a:custGeom>
            <a:avLst/>
            <a:gdLst/>
            <a:ahLst/>
            <a:cxnLst/>
            <a:rect l="l" t="t" r="r" b="b"/>
            <a:pathLst>
              <a:path w="3030936" h="3030936">
                <a:moveTo>
                  <a:pt x="0" y="0"/>
                </a:moveTo>
                <a:lnTo>
                  <a:pt x="3030936" y="0"/>
                </a:lnTo>
                <a:lnTo>
                  <a:pt x="3030936" y="3030936"/>
                </a:lnTo>
                <a:lnTo>
                  <a:pt x="0" y="303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3" name="TextBox 3"/>
          <p:cNvSpPr txBox="1"/>
          <p:nvPr/>
        </p:nvSpPr>
        <p:spPr>
          <a:xfrm>
            <a:off x="4837926" y="3831036"/>
            <a:ext cx="11412744" cy="426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6017" lvl="1" indent="-383008" algn="l">
              <a:lnSpc>
                <a:spcPts val="4257"/>
              </a:lnSpc>
              <a:buFont typeface="Arial"/>
              <a:buChar char="•"/>
            </a:pPr>
            <a:r>
              <a:rPr lang="en-US" sz="3548" b="1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Question claire : Comment simplifier et centraliser la gestion des documents de construction pour améliorer la collaboration entre les acteurs d’un chantier ?</a:t>
            </a:r>
          </a:p>
          <a:p>
            <a:pPr marL="766017" lvl="1" indent="-383008" algn="l">
              <a:lnSpc>
                <a:spcPts val="4257"/>
              </a:lnSpc>
              <a:buFont typeface="Arial"/>
              <a:buChar char="•"/>
            </a:pPr>
            <a:r>
              <a:rPr lang="en-US" sz="3548" b="1">
                <a:solidFill>
                  <a:srgbClr val="0916A2"/>
                </a:solidFill>
                <a:latin typeface="Changa Medium"/>
                <a:ea typeface="Changa Medium"/>
                <a:cs typeface="Changa Medium"/>
                <a:sym typeface="Changa Medium"/>
              </a:rPr>
              <a:t>Réponse du projet : BOON propose une plateforme unique avec gestion des salles de chantier, 3 rôles d’utilisateurs, partage sécurisé et génération PDF automatique.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2648527"/>
            <a:ext cx="3030936" cy="3030936"/>
          </a:xfrm>
          <a:custGeom>
            <a:avLst/>
            <a:gdLst/>
            <a:ahLst/>
            <a:cxnLst/>
            <a:rect l="l" t="t" r="r" b="b"/>
            <a:pathLst>
              <a:path w="3030936" h="3030936">
                <a:moveTo>
                  <a:pt x="0" y="0"/>
                </a:moveTo>
                <a:lnTo>
                  <a:pt x="3030936" y="0"/>
                </a:lnTo>
                <a:lnTo>
                  <a:pt x="3030936" y="3030937"/>
                </a:lnTo>
                <a:lnTo>
                  <a:pt x="0" y="303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5" name="Freeform 5"/>
          <p:cNvSpPr/>
          <p:nvPr/>
        </p:nvSpPr>
        <p:spPr>
          <a:xfrm>
            <a:off x="0" y="5297054"/>
            <a:ext cx="3030936" cy="3030936"/>
          </a:xfrm>
          <a:custGeom>
            <a:avLst/>
            <a:gdLst/>
            <a:ahLst/>
            <a:cxnLst/>
            <a:rect l="l" t="t" r="r" b="b"/>
            <a:pathLst>
              <a:path w="3030936" h="3030936">
                <a:moveTo>
                  <a:pt x="0" y="0"/>
                </a:moveTo>
                <a:lnTo>
                  <a:pt x="3030936" y="0"/>
                </a:lnTo>
                <a:lnTo>
                  <a:pt x="3030936" y="3030937"/>
                </a:lnTo>
                <a:lnTo>
                  <a:pt x="0" y="303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6" name="Freeform 6"/>
          <p:cNvSpPr/>
          <p:nvPr/>
        </p:nvSpPr>
        <p:spPr>
          <a:xfrm>
            <a:off x="0" y="7945581"/>
            <a:ext cx="3030936" cy="3030936"/>
          </a:xfrm>
          <a:custGeom>
            <a:avLst/>
            <a:gdLst/>
            <a:ahLst/>
            <a:cxnLst/>
            <a:rect l="l" t="t" r="r" b="b"/>
            <a:pathLst>
              <a:path w="3030936" h="3030936">
                <a:moveTo>
                  <a:pt x="0" y="0"/>
                </a:moveTo>
                <a:lnTo>
                  <a:pt x="3030936" y="0"/>
                </a:lnTo>
                <a:lnTo>
                  <a:pt x="3030936" y="3030937"/>
                </a:lnTo>
                <a:lnTo>
                  <a:pt x="0" y="30309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7" name="Freeform 7"/>
          <p:cNvSpPr/>
          <p:nvPr/>
        </p:nvSpPr>
        <p:spPr>
          <a:xfrm>
            <a:off x="15369315" y="7368315"/>
            <a:ext cx="2918685" cy="2918685"/>
          </a:xfrm>
          <a:custGeom>
            <a:avLst/>
            <a:gdLst/>
            <a:ahLst/>
            <a:cxnLst/>
            <a:rect l="l" t="t" r="r" b="b"/>
            <a:pathLst>
              <a:path w="2918685" h="2918685">
                <a:moveTo>
                  <a:pt x="0" y="0"/>
                </a:moveTo>
                <a:lnTo>
                  <a:pt x="2918685" y="0"/>
                </a:lnTo>
                <a:lnTo>
                  <a:pt x="2918685" y="2918685"/>
                </a:lnTo>
                <a:lnTo>
                  <a:pt x="0" y="2918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8" name="TextBox 8"/>
          <p:cNvSpPr txBox="1"/>
          <p:nvPr/>
        </p:nvSpPr>
        <p:spPr>
          <a:xfrm>
            <a:off x="4837926" y="1515468"/>
            <a:ext cx="13450074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00"/>
              </a:lnSpc>
            </a:pPr>
            <a:r>
              <a:rPr lang="en-US" sz="9500" b="1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Problématique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225127" cy="4225127"/>
          </a:xfrm>
          <a:custGeom>
            <a:avLst/>
            <a:gdLst/>
            <a:ahLst/>
            <a:cxnLst/>
            <a:rect l="l" t="t" r="r" b="b"/>
            <a:pathLst>
              <a:path w="4225127" h="4225127">
                <a:moveTo>
                  <a:pt x="0" y="0"/>
                </a:moveTo>
                <a:lnTo>
                  <a:pt x="4225127" y="0"/>
                </a:lnTo>
                <a:lnTo>
                  <a:pt x="4225127" y="4225127"/>
                </a:lnTo>
                <a:lnTo>
                  <a:pt x="0" y="422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3" name="TextBox 3"/>
          <p:cNvSpPr txBox="1"/>
          <p:nvPr/>
        </p:nvSpPr>
        <p:spPr>
          <a:xfrm>
            <a:off x="6413001" y="3810000"/>
            <a:ext cx="8099660" cy="266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6444" lvl="1" indent="-383222" algn="l">
              <a:lnSpc>
                <a:spcPts val="4259"/>
              </a:lnSpc>
              <a:buAutoNum type="arabicPeriod"/>
            </a:pPr>
            <a:r>
              <a:rPr lang="en-US" sz="3549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Gestion des salles de chantier</a:t>
            </a:r>
          </a:p>
          <a:p>
            <a:pPr marL="766444" lvl="1" indent="-383222" algn="l">
              <a:lnSpc>
                <a:spcPts val="4259"/>
              </a:lnSpc>
              <a:buAutoNum type="arabicPeriod"/>
            </a:pPr>
            <a:r>
              <a:rPr lang="en-US" sz="3549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Création et partage de documents</a:t>
            </a:r>
          </a:p>
          <a:p>
            <a:pPr marL="766444" lvl="1" indent="-383222" algn="l">
              <a:lnSpc>
                <a:spcPts val="4259"/>
              </a:lnSpc>
              <a:buAutoNum type="arabicPeriod"/>
            </a:pPr>
            <a:r>
              <a:rPr lang="en-US" sz="3549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Génération PDF</a:t>
            </a:r>
          </a:p>
          <a:p>
            <a:pPr marL="766444" lvl="1" indent="-383222" algn="l">
              <a:lnSpc>
                <a:spcPts val="4259"/>
              </a:lnSpc>
              <a:buAutoNum type="arabicPeriod"/>
            </a:pPr>
            <a:r>
              <a:rPr lang="en-US" sz="3549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Lien Ouvrier-Fournisseur</a:t>
            </a:r>
          </a:p>
          <a:p>
            <a:pPr marL="766444" lvl="1" indent="-383222" algn="l">
              <a:lnSpc>
                <a:spcPts val="4259"/>
              </a:lnSpc>
              <a:buAutoNum type="arabicPeriod"/>
            </a:pPr>
            <a:r>
              <a:rPr lang="en-US" sz="3549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Tableaux de bord et analytics</a:t>
            </a:r>
          </a:p>
        </p:txBody>
      </p:sp>
      <p:sp>
        <p:nvSpPr>
          <p:cNvPr id="4" name="Freeform 4"/>
          <p:cNvSpPr/>
          <p:nvPr/>
        </p:nvSpPr>
        <p:spPr>
          <a:xfrm>
            <a:off x="0" y="3810000"/>
            <a:ext cx="4225127" cy="4225127"/>
          </a:xfrm>
          <a:custGeom>
            <a:avLst/>
            <a:gdLst/>
            <a:ahLst/>
            <a:cxnLst/>
            <a:rect l="l" t="t" r="r" b="b"/>
            <a:pathLst>
              <a:path w="4225127" h="4225127">
                <a:moveTo>
                  <a:pt x="0" y="0"/>
                </a:moveTo>
                <a:lnTo>
                  <a:pt x="4225127" y="0"/>
                </a:lnTo>
                <a:lnTo>
                  <a:pt x="4225127" y="4225127"/>
                </a:lnTo>
                <a:lnTo>
                  <a:pt x="0" y="422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5" name="Freeform 5"/>
          <p:cNvSpPr/>
          <p:nvPr/>
        </p:nvSpPr>
        <p:spPr>
          <a:xfrm>
            <a:off x="0" y="7620000"/>
            <a:ext cx="4225127" cy="4225127"/>
          </a:xfrm>
          <a:custGeom>
            <a:avLst/>
            <a:gdLst/>
            <a:ahLst/>
            <a:cxnLst/>
            <a:rect l="l" t="t" r="r" b="b"/>
            <a:pathLst>
              <a:path w="4225127" h="4225127">
                <a:moveTo>
                  <a:pt x="0" y="0"/>
                </a:moveTo>
                <a:lnTo>
                  <a:pt x="4225127" y="0"/>
                </a:lnTo>
                <a:lnTo>
                  <a:pt x="4225127" y="4225127"/>
                </a:lnTo>
                <a:lnTo>
                  <a:pt x="0" y="42251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6" name="Freeform 6"/>
          <p:cNvSpPr/>
          <p:nvPr/>
        </p:nvSpPr>
        <p:spPr>
          <a:xfrm>
            <a:off x="15369315" y="7368315"/>
            <a:ext cx="2918685" cy="2918685"/>
          </a:xfrm>
          <a:custGeom>
            <a:avLst/>
            <a:gdLst/>
            <a:ahLst/>
            <a:cxnLst/>
            <a:rect l="l" t="t" r="r" b="b"/>
            <a:pathLst>
              <a:path w="2918685" h="2918685">
                <a:moveTo>
                  <a:pt x="0" y="0"/>
                </a:moveTo>
                <a:lnTo>
                  <a:pt x="2918685" y="0"/>
                </a:lnTo>
                <a:lnTo>
                  <a:pt x="2918685" y="2918685"/>
                </a:lnTo>
                <a:lnTo>
                  <a:pt x="0" y="2918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7" name="TextBox 7"/>
          <p:cNvSpPr txBox="1"/>
          <p:nvPr/>
        </p:nvSpPr>
        <p:spPr>
          <a:xfrm>
            <a:off x="6413001" y="613128"/>
            <a:ext cx="9023007" cy="289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00"/>
              </a:lnSpc>
            </a:pPr>
            <a:r>
              <a:rPr lang="en-US" sz="9500" b="1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Fonctionnalités Principales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6054683" y="44842"/>
            <a:ext cx="2233317" cy="2233317"/>
          </a:xfrm>
          <a:custGeom>
            <a:avLst/>
            <a:gdLst/>
            <a:ahLst/>
            <a:cxnLst/>
            <a:rect l="l" t="t" r="r" b="b"/>
            <a:pathLst>
              <a:path w="2233317" h="2233317">
                <a:moveTo>
                  <a:pt x="0" y="0"/>
                </a:moveTo>
                <a:lnTo>
                  <a:pt x="2233317" y="0"/>
                </a:lnTo>
                <a:lnTo>
                  <a:pt x="2233317" y="2233317"/>
                </a:lnTo>
                <a:lnTo>
                  <a:pt x="0" y="22333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3" name="Freeform 3"/>
          <p:cNvSpPr/>
          <p:nvPr/>
        </p:nvSpPr>
        <p:spPr>
          <a:xfrm rot="-10800000">
            <a:off x="-3481" y="-62881"/>
            <a:ext cx="3238666" cy="3238666"/>
          </a:xfrm>
          <a:custGeom>
            <a:avLst/>
            <a:gdLst/>
            <a:ahLst/>
            <a:cxnLst/>
            <a:rect l="l" t="t" r="r" b="b"/>
            <a:pathLst>
              <a:path w="3238666" h="3238666">
                <a:moveTo>
                  <a:pt x="0" y="0"/>
                </a:moveTo>
                <a:lnTo>
                  <a:pt x="3238666" y="0"/>
                </a:lnTo>
                <a:lnTo>
                  <a:pt x="3238666" y="3238666"/>
                </a:lnTo>
                <a:lnTo>
                  <a:pt x="0" y="3238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4" name="Freeform 4"/>
          <p:cNvSpPr/>
          <p:nvPr/>
        </p:nvSpPr>
        <p:spPr>
          <a:xfrm rot="5400000">
            <a:off x="-3481" y="8667667"/>
            <a:ext cx="1619333" cy="1619333"/>
          </a:xfrm>
          <a:custGeom>
            <a:avLst/>
            <a:gdLst/>
            <a:ahLst/>
            <a:cxnLst/>
            <a:rect l="l" t="t" r="r" b="b"/>
            <a:pathLst>
              <a:path w="1619333" h="1619333">
                <a:moveTo>
                  <a:pt x="0" y="0"/>
                </a:moveTo>
                <a:lnTo>
                  <a:pt x="1619333" y="0"/>
                </a:lnTo>
                <a:lnTo>
                  <a:pt x="1619333" y="1619333"/>
                </a:lnTo>
                <a:lnTo>
                  <a:pt x="0" y="16193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5" name="Freeform 5"/>
          <p:cNvSpPr/>
          <p:nvPr/>
        </p:nvSpPr>
        <p:spPr>
          <a:xfrm>
            <a:off x="15369315" y="7368315"/>
            <a:ext cx="2918685" cy="2918685"/>
          </a:xfrm>
          <a:custGeom>
            <a:avLst/>
            <a:gdLst/>
            <a:ahLst/>
            <a:cxnLst/>
            <a:rect l="l" t="t" r="r" b="b"/>
            <a:pathLst>
              <a:path w="2918685" h="2918685">
                <a:moveTo>
                  <a:pt x="0" y="0"/>
                </a:moveTo>
                <a:lnTo>
                  <a:pt x="2918685" y="0"/>
                </a:lnTo>
                <a:lnTo>
                  <a:pt x="2918685" y="2918685"/>
                </a:lnTo>
                <a:lnTo>
                  <a:pt x="0" y="2918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6" name="Freeform 6"/>
          <p:cNvSpPr/>
          <p:nvPr/>
        </p:nvSpPr>
        <p:spPr>
          <a:xfrm>
            <a:off x="3599945" y="1340765"/>
            <a:ext cx="12079747" cy="8394401"/>
          </a:xfrm>
          <a:custGeom>
            <a:avLst/>
            <a:gdLst/>
            <a:ahLst/>
            <a:cxnLst/>
            <a:rect l="l" t="t" r="r" b="b"/>
            <a:pathLst>
              <a:path w="12079747" h="8394401">
                <a:moveTo>
                  <a:pt x="0" y="0"/>
                </a:moveTo>
                <a:lnTo>
                  <a:pt x="12079747" y="0"/>
                </a:lnTo>
                <a:lnTo>
                  <a:pt x="12079747" y="8394401"/>
                </a:lnTo>
                <a:lnTo>
                  <a:pt x="0" y="839440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7" name="TextBox 7"/>
          <p:cNvSpPr txBox="1"/>
          <p:nvPr/>
        </p:nvSpPr>
        <p:spPr>
          <a:xfrm>
            <a:off x="3599945" y="217533"/>
            <a:ext cx="10208495" cy="811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6387"/>
              </a:lnSpc>
            </a:pPr>
            <a:r>
              <a:rPr lang="en-US" sz="5322" b="1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Conception Base de Données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5146206" cy="5146206"/>
          </a:xfrm>
          <a:custGeom>
            <a:avLst/>
            <a:gdLst/>
            <a:ahLst/>
            <a:cxnLst/>
            <a:rect l="l" t="t" r="r" b="b"/>
            <a:pathLst>
              <a:path w="5146206" h="5146206">
                <a:moveTo>
                  <a:pt x="0" y="0"/>
                </a:moveTo>
                <a:lnTo>
                  <a:pt x="5146206" y="0"/>
                </a:lnTo>
                <a:lnTo>
                  <a:pt x="5146206" y="5146206"/>
                </a:lnTo>
                <a:lnTo>
                  <a:pt x="0" y="5146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3" name="Freeform 3"/>
          <p:cNvSpPr/>
          <p:nvPr/>
        </p:nvSpPr>
        <p:spPr>
          <a:xfrm rot="-5400000">
            <a:off x="0" y="5111460"/>
            <a:ext cx="5146206" cy="5146206"/>
          </a:xfrm>
          <a:custGeom>
            <a:avLst/>
            <a:gdLst/>
            <a:ahLst/>
            <a:cxnLst/>
            <a:rect l="l" t="t" r="r" b="b"/>
            <a:pathLst>
              <a:path w="5146206" h="5146206">
                <a:moveTo>
                  <a:pt x="0" y="0"/>
                </a:moveTo>
                <a:lnTo>
                  <a:pt x="5146206" y="0"/>
                </a:lnTo>
                <a:lnTo>
                  <a:pt x="5146206" y="5146206"/>
                </a:lnTo>
                <a:lnTo>
                  <a:pt x="0" y="51462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grpSp>
        <p:nvGrpSpPr>
          <p:cNvPr id="4" name="Group 4"/>
          <p:cNvGrpSpPr/>
          <p:nvPr/>
        </p:nvGrpSpPr>
        <p:grpSpPr>
          <a:xfrm>
            <a:off x="15201900" y="7255274"/>
            <a:ext cx="3435241" cy="3357654"/>
            <a:chOff x="0" y="0"/>
            <a:chExt cx="904755" cy="8843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904755" cy="884320"/>
            </a:xfrm>
            <a:custGeom>
              <a:avLst/>
              <a:gdLst/>
              <a:ahLst/>
              <a:cxnLst/>
              <a:rect l="l" t="t" r="r" b="b"/>
              <a:pathLst>
                <a:path w="904755" h="884320">
                  <a:moveTo>
                    <a:pt x="114937" y="0"/>
                  </a:moveTo>
                  <a:lnTo>
                    <a:pt x="789817" y="0"/>
                  </a:lnTo>
                  <a:cubicBezTo>
                    <a:pt x="820301" y="0"/>
                    <a:pt x="849535" y="12109"/>
                    <a:pt x="871090" y="33664"/>
                  </a:cubicBezTo>
                  <a:cubicBezTo>
                    <a:pt x="892645" y="55219"/>
                    <a:pt x="904755" y="84454"/>
                    <a:pt x="904755" y="114937"/>
                  </a:cubicBezTo>
                  <a:lnTo>
                    <a:pt x="904755" y="769383"/>
                  </a:lnTo>
                  <a:cubicBezTo>
                    <a:pt x="904755" y="799866"/>
                    <a:pt x="892645" y="829101"/>
                    <a:pt x="871090" y="850656"/>
                  </a:cubicBezTo>
                  <a:cubicBezTo>
                    <a:pt x="849535" y="872211"/>
                    <a:pt x="820301" y="884320"/>
                    <a:pt x="789817" y="884320"/>
                  </a:cubicBezTo>
                  <a:lnTo>
                    <a:pt x="114937" y="884320"/>
                  </a:lnTo>
                  <a:cubicBezTo>
                    <a:pt x="84454" y="884320"/>
                    <a:pt x="55219" y="872211"/>
                    <a:pt x="33664" y="850656"/>
                  </a:cubicBezTo>
                  <a:cubicBezTo>
                    <a:pt x="12109" y="829101"/>
                    <a:pt x="0" y="799866"/>
                    <a:pt x="0" y="769383"/>
                  </a:cubicBezTo>
                  <a:lnTo>
                    <a:pt x="0" y="114937"/>
                  </a:lnTo>
                  <a:cubicBezTo>
                    <a:pt x="0" y="84454"/>
                    <a:pt x="12109" y="55219"/>
                    <a:pt x="33664" y="33664"/>
                  </a:cubicBezTo>
                  <a:cubicBezTo>
                    <a:pt x="55219" y="12109"/>
                    <a:pt x="84454" y="0"/>
                    <a:pt x="11493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MA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9525"/>
              <a:ext cx="904755" cy="8747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5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369315" y="7338981"/>
            <a:ext cx="2918685" cy="2918685"/>
          </a:xfrm>
          <a:custGeom>
            <a:avLst/>
            <a:gdLst/>
            <a:ahLst/>
            <a:cxnLst/>
            <a:rect l="l" t="t" r="r" b="b"/>
            <a:pathLst>
              <a:path w="2918685" h="2918685">
                <a:moveTo>
                  <a:pt x="0" y="0"/>
                </a:moveTo>
                <a:lnTo>
                  <a:pt x="2918685" y="0"/>
                </a:lnTo>
                <a:lnTo>
                  <a:pt x="2918685" y="2918685"/>
                </a:lnTo>
                <a:lnTo>
                  <a:pt x="0" y="2918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8" name="TextBox 8"/>
          <p:cNvSpPr txBox="1"/>
          <p:nvPr/>
        </p:nvSpPr>
        <p:spPr>
          <a:xfrm>
            <a:off x="5816552" y="428980"/>
            <a:ext cx="11850752" cy="1321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05"/>
              </a:lnSpc>
            </a:pPr>
            <a:r>
              <a:rPr lang="en-US" sz="8671" b="1">
                <a:solidFill>
                  <a:srgbClr val="FFFFFF"/>
                </a:solidFill>
                <a:latin typeface="Changa Bold"/>
                <a:ea typeface="Changa Bold"/>
                <a:cs typeface="Changa Bold"/>
                <a:sym typeface="Changa Bold"/>
              </a:rPr>
              <a:t>Choix techniques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16552" y="2305710"/>
            <a:ext cx="10498651" cy="258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3195" lvl="1" indent="-466597" algn="l">
              <a:lnSpc>
                <a:spcPts val="5186"/>
              </a:lnSpc>
              <a:buFont typeface="Arial"/>
              <a:buChar char="•"/>
            </a:pPr>
            <a:r>
              <a:rPr lang="en-US" sz="4322" b="1">
                <a:solidFill>
                  <a:srgbClr val="FFFFFF"/>
                </a:solidFill>
                <a:latin typeface="Changa Semi-Bold"/>
                <a:ea typeface="Changa Semi-Bold"/>
                <a:cs typeface="Changa Semi-Bold"/>
                <a:sym typeface="Changa Semi-Bold"/>
              </a:rPr>
              <a:t>FRONTEND: REACT LATEST + VITE</a:t>
            </a:r>
          </a:p>
          <a:p>
            <a:pPr marL="933195" lvl="1" indent="-466597" algn="l">
              <a:lnSpc>
                <a:spcPts val="5186"/>
              </a:lnSpc>
              <a:buFont typeface="Arial"/>
              <a:buChar char="•"/>
            </a:pPr>
            <a:r>
              <a:rPr lang="en-US" sz="4322" b="1">
                <a:solidFill>
                  <a:srgbClr val="FFFFFF"/>
                </a:solidFill>
                <a:latin typeface="Changa Semi-Bold"/>
                <a:ea typeface="Changa Semi-Bold"/>
                <a:cs typeface="Changa Semi-Bold"/>
                <a:sym typeface="Changa Semi-Bold"/>
              </a:rPr>
              <a:t>BACKEND: LARAVEL 13</a:t>
            </a:r>
          </a:p>
          <a:p>
            <a:pPr marL="933195" lvl="1" indent="-466597" algn="l">
              <a:lnSpc>
                <a:spcPts val="5186"/>
              </a:lnSpc>
              <a:buFont typeface="Arial"/>
              <a:buChar char="•"/>
            </a:pPr>
            <a:r>
              <a:rPr lang="en-US" sz="4322" b="1">
                <a:solidFill>
                  <a:srgbClr val="FFFFFF"/>
                </a:solidFill>
                <a:latin typeface="Changa Semi-Bold"/>
                <a:ea typeface="Changa Semi-Bold"/>
                <a:cs typeface="Changa Semi-Bold"/>
                <a:sym typeface="Changa Semi-Bold"/>
              </a:rPr>
              <a:t>BASE DE DONNÉES: MYSQL</a:t>
            </a:r>
          </a:p>
          <a:p>
            <a:pPr marL="933195" lvl="1" indent="-466597" algn="l">
              <a:lnSpc>
                <a:spcPts val="5186"/>
              </a:lnSpc>
              <a:buFont typeface="Arial"/>
              <a:buChar char="•"/>
            </a:pPr>
            <a:r>
              <a:rPr lang="en-US" sz="4322" b="1">
                <a:solidFill>
                  <a:srgbClr val="FFFFFF"/>
                </a:solidFill>
                <a:latin typeface="Changa Semi-Bold"/>
                <a:ea typeface="Changa Semi-Bold"/>
                <a:cs typeface="Changa Semi-Bold"/>
                <a:sym typeface="Changa Semi-Bold"/>
              </a:rPr>
              <a:t>DÉPLOIEMENT: LOCALE /DEV TUNNELS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82577" y="0"/>
            <a:ext cx="3622553" cy="3622553"/>
          </a:xfrm>
          <a:custGeom>
            <a:avLst/>
            <a:gdLst/>
            <a:ahLst/>
            <a:cxnLst/>
            <a:rect l="l" t="t" r="r" b="b"/>
            <a:pathLst>
              <a:path w="3622553" h="3622553">
                <a:moveTo>
                  <a:pt x="0" y="0"/>
                </a:moveTo>
                <a:lnTo>
                  <a:pt x="3622554" y="0"/>
                </a:lnTo>
                <a:lnTo>
                  <a:pt x="3622554" y="3622553"/>
                </a:lnTo>
                <a:lnTo>
                  <a:pt x="0" y="3622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3" name="Freeform 3"/>
          <p:cNvSpPr/>
          <p:nvPr/>
        </p:nvSpPr>
        <p:spPr>
          <a:xfrm rot="5400000">
            <a:off x="-2169021" y="3622553"/>
            <a:ext cx="5008997" cy="5008997"/>
          </a:xfrm>
          <a:custGeom>
            <a:avLst/>
            <a:gdLst/>
            <a:ahLst/>
            <a:cxnLst/>
            <a:rect l="l" t="t" r="r" b="b"/>
            <a:pathLst>
              <a:path w="5008997" h="5008997">
                <a:moveTo>
                  <a:pt x="0" y="0"/>
                </a:moveTo>
                <a:lnTo>
                  <a:pt x="5008998" y="0"/>
                </a:lnTo>
                <a:lnTo>
                  <a:pt x="5008998" y="5008998"/>
                </a:lnTo>
                <a:lnTo>
                  <a:pt x="0" y="50089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4" name="Freeform 4"/>
          <p:cNvSpPr/>
          <p:nvPr/>
        </p:nvSpPr>
        <p:spPr>
          <a:xfrm rot="-5400000">
            <a:off x="-782577" y="7855028"/>
            <a:ext cx="3622553" cy="3622553"/>
          </a:xfrm>
          <a:custGeom>
            <a:avLst/>
            <a:gdLst/>
            <a:ahLst/>
            <a:cxnLst/>
            <a:rect l="l" t="t" r="r" b="b"/>
            <a:pathLst>
              <a:path w="3622553" h="3622553">
                <a:moveTo>
                  <a:pt x="0" y="0"/>
                </a:moveTo>
                <a:lnTo>
                  <a:pt x="3622554" y="0"/>
                </a:lnTo>
                <a:lnTo>
                  <a:pt x="3622554" y="3622553"/>
                </a:lnTo>
                <a:lnTo>
                  <a:pt x="0" y="36225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5" name="Freeform 5"/>
          <p:cNvSpPr/>
          <p:nvPr/>
        </p:nvSpPr>
        <p:spPr>
          <a:xfrm>
            <a:off x="15369315" y="7368315"/>
            <a:ext cx="2918685" cy="2918685"/>
          </a:xfrm>
          <a:custGeom>
            <a:avLst/>
            <a:gdLst/>
            <a:ahLst/>
            <a:cxnLst/>
            <a:rect l="l" t="t" r="r" b="b"/>
            <a:pathLst>
              <a:path w="2918685" h="2918685">
                <a:moveTo>
                  <a:pt x="0" y="0"/>
                </a:moveTo>
                <a:lnTo>
                  <a:pt x="2918685" y="0"/>
                </a:lnTo>
                <a:lnTo>
                  <a:pt x="2918685" y="2918685"/>
                </a:lnTo>
                <a:lnTo>
                  <a:pt x="0" y="29186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6" name="TextBox 6"/>
          <p:cNvSpPr txBox="1"/>
          <p:nvPr/>
        </p:nvSpPr>
        <p:spPr>
          <a:xfrm>
            <a:off x="4226421" y="436417"/>
            <a:ext cx="13032879" cy="1184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27"/>
              </a:lnSpc>
            </a:pPr>
            <a:r>
              <a:rPr lang="en-US" sz="7772" b="1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Réalisation – Démonstration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26421" y="2240358"/>
            <a:ext cx="8876737" cy="3342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56"/>
              </a:lnSpc>
              <a:spcBef>
                <a:spcPct val="0"/>
              </a:spcBef>
            </a:pPr>
            <a:r>
              <a:rPr lang="en-US" sz="3713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1. CRÉATION D’UN COMPTE PROPRIÉTAIRE</a:t>
            </a:r>
          </a:p>
          <a:p>
            <a:pPr algn="l">
              <a:lnSpc>
                <a:spcPts val="4456"/>
              </a:lnSpc>
              <a:spcBef>
                <a:spcPct val="0"/>
              </a:spcBef>
            </a:pPr>
            <a:r>
              <a:rPr lang="en-US" sz="3713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2. CRÉATION D’UNE SALLE DE CHANTIER</a:t>
            </a:r>
          </a:p>
          <a:p>
            <a:pPr algn="l">
              <a:lnSpc>
                <a:spcPts val="4456"/>
              </a:lnSpc>
              <a:spcBef>
                <a:spcPct val="0"/>
              </a:spcBef>
            </a:pPr>
            <a:r>
              <a:rPr lang="en-US" sz="3713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3. OUVRIER REJOINT LA SALLE VIA LE CODE</a:t>
            </a:r>
          </a:p>
          <a:p>
            <a:pPr algn="l">
              <a:lnSpc>
                <a:spcPts val="4456"/>
              </a:lnSpc>
              <a:spcBef>
                <a:spcPct val="0"/>
              </a:spcBef>
            </a:pPr>
            <a:r>
              <a:rPr lang="en-US" sz="3713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4. OUVRIER LIE UN FOURNISSEUR À LA SALLE</a:t>
            </a:r>
          </a:p>
          <a:p>
            <a:pPr algn="l">
              <a:lnSpc>
                <a:spcPts val="4456"/>
              </a:lnSpc>
              <a:spcBef>
                <a:spcPct val="0"/>
              </a:spcBef>
            </a:pPr>
            <a:r>
              <a:rPr lang="en-US" sz="3713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5. FOURNISSEUR CRÉE UN DEVIS</a:t>
            </a:r>
          </a:p>
          <a:p>
            <a:pPr algn="l">
              <a:lnSpc>
                <a:spcPts val="4456"/>
              </a:lnSpc>
              <a:spcBef>
                <a:spcPct val="0"/>
              </a:spcBef>
            </a:pPr>
            <a:r>
              <a:rPr lang="en-US" sz="3713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6. TÉLÉCHARGEMENT DU PDF ET PARTAGE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56064" y="2986830"/>
            <a:ext cx="10346837" cy="4269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2346" lvl="1" indent="-276173" algn="l">
              <a:lnSpc>
                <a:spcPts val="3070"/>
              </a:lnSpc>
              <a:buFont typeface="Arial"/>
              <a:buChar char="•"/>
            </a:pPr>
            <a:r>
              <a:rPr lang="en-US" sz="2558" b="1" dirty="0">
                <a:solidFill>
                  <a:srgbClr val="0916A2"/>
                </a:solidFill>
                <a:latin typeface="Changa Semi-Bold"/>
                <a:ea typeface="Changa Semi-Bold"/>
                <a:cs typeface="Changa Semi-Bold"/>
                <a:sym typeface="Changa Semi-Bold"/>
              </a:rPr>
              <a:t>1. DIFFICULTÉ : AUTHENTIFICATION SÉCURISÉE AVEC REFRESH TOKENS</a:t>
            </a:r>
          </a:p>
          <a:p>
            <a:pPr marL="552346" lvl="1" indent="-276173" algn="l">
              <a:lnSpc>
                <a:spcPts val="3070"/>
              </a:lnSpc>
              <a:buFont typeface="Arial"/>
              <a:buChar char="•"/>
            </a:pPr>
            <a:r>
              <a:rPr lang="en-US" sz="2558" b="1" dirty="0">
                <a:solidFill>
                  <a:srgbClr val="0916A2"/>
                </a:solidFill>
                <a:latin typeface="Changa Semi-Bold"/>
                <a:ea typeface="Changa Semi-Bold"/>
                <a:cs typeface="Changa Semi-Bold"/>
                <a:sym typeface="Changa Semi-Bold"/>
              </a:rPr>
              <a:t>   SOLUTION : SYSTÈME PERSONNALISÉ AVEC REFRESH TOKENS STOCKÉS DANS LA DB ET MIDDLEWARE LARAVEL</a:t>
            </a:r>
          </a:p>
          <a:p>
            <a:pPr marL="552346" lvl="1" indent="-276173" algn="l">
              <a:lnSpc>
                <a:spcPts val="3070"/>
              </a:lnSpc>
              <a:buFont typeface="Arial"/>
              <a:buChar char="•"/>
            </a:pPr>
            <a:r>
              <a:rPr lang="en-US" sz="2558" b="1" dirty="0">
                <a:solidFill>
                  <a:srgbClr val="0916A2"/>
                </a:solidFill>
                <a:latin typeface="Changa Semi-Bold"/>
                <a:ea typeface="Changa Semi-Bold"/>
                <a:cs typeface="Changa Semi-Bold"/>
                <a:sym typeface="Changa Semi-Bold"/>
              </a:rPr>
              <a:t>2. DIFFICULTÉ : GÉNÉRATION DE PDF RESPONSIVE AVEC LES DONNÉES DES DOCUMENTS</a:t>
            </a:r>
          </a:p>
          <a:p>
            <a:pPr marL="552346" lvl="1" indent="-276173" algn="l">
              <a:lnSpc>
                <a:spcPts val="3070"/>
              </a:lnSpc>
              <a:buFont typeface="Arial"/>
              <a:buChar char="•"/>
            </a:pPr>
            <a:r>
              <a:rPr lang="en-US" sz="2558" b="1" dirty="0">
                <a:solidFill>
                  <a:srgbClr val="0916A2"/>
                </a:solidFill>
                <a:latin typeface="Changa Semi-Bold"/>
                <a:ea typeface="Changa Semi-Bold"/>
                <a:cs typeface="Changa Semi-Bold"/>
                <a:sym typeface="Changa Semi-Bold"/>
              </a:rPr>
              <a:t>   SOLUTION : UTILISATION DE LA BIBLIOTHÈQUE `BARRYVDH/LARAVEL-DOMPDF` AVEC UN TEMPLATE BLADE</a:t>
            </a:r>
          </a:p>
          <a:p>
            <a:pPr marL="552346" lvl="1" indent="-276173" algn="l">
              <a:lnSpc>
                <a:spcPts val="3070"/>
              </a:lnSpc>
              <a:buFont typeface="Arial"/>
              <a:buChar char="•"/>
            </a:pPr>
            <a:r>
              <a:rPr lang="en-US" sz="2558" b="1" dirty="0">
                <a:solidFill>
                  <a:srgbClr val="0916A2"/>
                </a:solidFill>
                <a:latin typeface="Changa Semi-Bold"/>
                <a:ea typeface="Changa Semi-Bold"/>
                <a:cs typeface="Changa Semi-Bold"/>
                <a:sym typeface="Changa Semi-Bold"/>
              </a:rPr>
              <a:t>3. DIFFICULTÉ : GESTION DES DROITS D’ACCÈS PAR RÔLE (OWNER/WORKER/SUPPLIER)</a:t>
            </a:r>
          </a:p>
          <a:p>
            <a:pPr marL="552346" lvl="1" indent="-276173" algn="l">
              <a:lnSpc>
                <a:spcPts val="3070"/>
              </a:lnSpc>
              <a:buFont typeface="Arial"/>
              <a:buChar char="•"/>
            </a:pPr>
            <a:r>
              <a:rPr lang="en-US" sz="2558" b="1" dirty="0">
                <a:solidFill>
                  <a:srgbClr val="0916A2"/>
                </a:solidFill>
                <a:latin typeface="Changa Semi-Bold"/>
                <a:ea typeface="Changa Semi-Bold"/>
                <a:cs typeface="Changa Semi-Bold"/>
                <a:sym typeface="Changa Semi-Bold"/>
              </a:rPr>
              <a:t>   SOLUTION : MIDDLEWARE PERSONNALISÉ `BOONREQUIREROLE` POUR VÉRIFIER LES RÔLES AVANT CHAQUE REQUÊTE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030936" cy="3030936"/>
          </a:xfrm>
          <a:custGeom>
            <a:avLst/>
            <a:gdLst/>
            <a:ahLst/>
            <a:cxnLst/>
            <a:rect l="l" t="t" r="r" b="b"/>
            <a:pathLst>
              <a:path w="3030936" h="3030936">
                <a:moveTo>
                  <a:pt x="0" y="0"/>
                </a:moveTo>
                <a:lnTo>
                  <a:pt x="3030936" y="0"/>
                </a:lnTo>
                <a:lnTo>
                  <a:pt x="3030936" y="3030936"/>
                </a:lnTo>
                <a:lnTo>
                  <a:pt x="0" y="3030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4" name="Freeform 4"/>
          <p:cNvSpPr/>
          <p:nvPr/>
        </p:nvSpPr>
        <p:spPr>
          <a:xfrm>
            <a:off x="3030936" y="3030936"/>
            <a:ext cx="4225127" cy="4225127"/>
          </a:xfrm>
          <a:custGeom>
            <a:avLst/>
            <a:gdLst/>
            <a:ahLst/>
            <a:cxnLst/>
            <a:rect l="l" t="t" r="r" b="b"/>
            <a:pathLst>
              <a:path w="4225127" h="4225127">
                <a:moveTo>
                  <a:pt x="0" y="0"/>
                </a:moveTo>
                <a:lnTo>
                  <a:pt x="4225128" y="0"/>
                </a:lnTo>
                <a:lnTo>
                  <a:pt x="4225128" y="4225128"/>
                </a:lnTo>
                <a:lnTo>
                  <a:pt x="0" y="42251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5" name="Freeform 5"/>
          <p:cNvSpPr/>
          <p:nvPr/>
        </p:nvSpPr>
        <p:spPr>
          <a:xfrm>
            <a:off x="1673" y="4225127"/>
            <a:ext cx="3030936" cy="3030936"/>
          </a:xfrm>
          <a:custGeom>
            <a:avLst/>
            <a:gdLst/>
            <a:ahLst/>
            <a:cxnLst/>
            <a:rect l="l" t="t" r="r" b="b"/>
            <a:pathLst>
              <a:path w="3030936" h="3030936">
                <a:moveTo>
                  <a:pt x="0" y="0"/>
                </a:moveTo>
                <a:lnTo>
                  <a:pt x="3030936" y="0"/>
                </a:lnTo>
                <a:lnTo>
                  <a:pt x="3030936" y="3030937"/>
                </a:lnTo>
                <a:lnTo>
                  <a:pt x="0" y="30309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6" name="Freeform 6"/>
          <p:cNvSpPr/>
          <p:nvPr/>
        </p:nvSpPr>
        <p:spPr>
          <a:xfrm>
            <a:off x="3030936" y="7237014"/>
            <a:ext cx="3030936" cy="3030936"/>
          </a:xfrm>
          <a:custGeom>
            <a:avLst/>
            <a:gdLst/>
            <a:ahLst/>
            <a:cxnLst/>
            <a:rect l="l" t="t" r="r" b="b"/>
            <a:pathLst>
              <a:path w="3030936" h="3030936">
                <a:moveTo>
                  <a:pt x="0" y="0"/>
                </a:moveTo>
                <a:lnTo>
                  <a:pt x="3030937" y="0"/>
                </a:lnTo>
                <a:lnTo>
                  <a:pt x="3030937" y="3030936"/>
                </a:lnTo>
                <a:lnTo>
                  <a:pt x="0" y="303093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7" name="Freeform 7"/>
          <p:cNvSpPr/>
          <p:nvPr/>
        </p:nvSpPr>
        <p:spPr>
          <a:xfrm>
            <a:off x="15369315" y="7368315"/>
            <a:ext cx="2918685" cy="2918685"/>
          </a:xfrm>
          <a:custGeom>
            <a:avLst/>
            <a:gdLst/>
            <a:ahLst/>
            <a:cxnLst/>
            <a:rect l="l" t="t" r="r" b="b"/>
            <a:pathLst>
              <a:path w="2918685" h="2918685">
                <a:moveTo>
                  <a:pt x="0" y="0"/>
                </a:moveTo>
                <a:lnTo>
                  <a:pt x="2918685" y="0"/>
                </a:lnTo>
                <a:lnTo>
                  <a:pt x="2918685" y="2918685"/>
                </a:lnTo>
                <a:lnTo>
                  <a:pt x="0" y="29186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8" name="TextBox 8"/>
          <p:cNvSpPr txBox="1"/>
          <p:nvPr/>
        </p:nvSpPr>
        <p:spPr>
          <a:xfrm>
            <a:off x="4612334" y="803113"/>
            <a:ext cx="12646966" cy="1434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399"/>
              </a:lnSpc>
            </a:pPr>
            <a:r>
              <a:rPr lang="en-US" sz="9499" b="1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Difficultés rencontrées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968190" y="0"/>
            <a:ext cx="5154869" cy="5154869"/>
          </a:xfrm>
          <a:custGeom>
            <a:avLst/>
            <a:gdLst/>
            <a:ahLst/>
            <a:cxnLst/>
            <a:rect l="l" t="t" r="r" b="b"/>
            <a:pathLst>
              <a:path w="5154869" h="5154869">
                <a:moveTo>
                  <a:pt x="0" y="0"/>
                </a:moveTo>
                <a:lnTo>
                  <a:pt x="5154869" y="0"/>
                </a:lnTo>
                <a:lnTo>
                  <a:pt x="5154869" y="5154869"/>
                </a:lnTo>
                <a:lnTo>
                  <a:pt x="0" y="51548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3" name="Freeform 3"/>
          <p:cNvSpPr/>
          <p:nvPr/>
        </p:nvSpPr>
        <p:spPr>
          <a:xfrm rot="-10800000" flipV="1">
            <a:off x="-968190" y="5132131"/>
            <a:ext cx="5154869" cy="5154869"/>
          </a:xfrm>
          <a:custGeom>
            <a:avLst/>
            <a:gdLst/>
            <a:ahLst/>
            <a:cxnLst/>
            <a:rect l="l" t="t" r="r" b="b"/>
            <a:pathLst>
              <a:path w="5154869" h="5154869">
                <a:moveTo>
                  <a:pt x="0" y="5154869"/>
                </a:moveTo>
                <a:lnTo>
                  <a:pt x="5154869" y="5154869"/>
                </a:lnTo>
                <a:lnTo>
                  <a:pt x="5154869" y="0"/>
                </a:lnTo>
                <a:lnTo>
                  <a:pt x="0" y="0"/>
                </a:lnTo>
                <a:lnTo>
                  <a:pt x="0" y="51548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4" name="Freeform 4"/>
          <p:cNvSpPr/>
          <p:nvPr/>
        </p:nvSpPr>
        <p:spPr>
          <a:xfrm>
            <a:off x="15369315" y="7420785"/>
            <a:ext cx="2918685" cy="2918685"/>
          </a:xfrm>
          <a:custGeom>
            <a:avLst/>
            <a:gdLst/>
            <a:ahLst/>
            <a:cxnLst/>
            <a:rect l="l" t="t" r="r" b="b"/>
            <a:pathLst>
              <a:path w="2918685" h="2918685">
                <a:moveTo>
                  <a:pt x="0" y="0"/>
                </a:moveTo>
                <a:lnTo>
                  <a:pt x="2918685" y="0"/>
                </a:lnTo>
                <a:lnTo>
                  <a:pt x="2918685" y="2918685"/>
                </a:lnTo>
                <a:lnTo>
                  <a:pt x="0" y="2918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5" name="TextBox 5"/>
          <p:cNvSpPr txBox="1"/>
          <p:nvPr/>
        </p:nvSpPr>
        <p:spPr>
          <a:xfrm>
            <a:off x="5413175" y="516294"/>
            <a:ext cx="12456875" cy="2206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87"/>
              </a:lnSpc>
            </a:pPr>
            <a:r>
              <a:rPr lang="en-US" sz="7239" b="1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Bilan &amp; améliorations possibles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69252" y="3071394"/>
            <a:ext cx="11527175" cy="5001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1030" lvl="1" indent="-300515" algn="l">
              <a:lnSpc>
                <a:spcPts val="3340"/>
              </a:lnSpc>
              <a:buFont typeface="Arial"/>
              <a:buChar char="•"/>
            </a:pPr>
            <a:r>
              <a:rPr lang="en-US" sz="2783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CE QUI A ÉTÉ RÉUSSI : MVP COMPLET FONCTIONNEL, TOUS LES OBJECTIFS ATTEINTS, COLLABORATION TESTÉE AVEC LES 3 RÔLES</a:t>
            </a:r>
          </a:p>
          <a:p>
            <a:pPr marL="601030" lvl="1" indent="-300515" algn="l">
              <a:lnSpc>
                <a:spcPts val="3340"/>
              </a:lnSpc>
              <a:buFont typeface="Arial"/>
              <a:buChar char="•"/>
            </a:pPr>
            <a:r>
              <a:rPr lang="en-US" sz="2783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AMÉLIORATIONS POSSIBLES :</a:t>
            </a:r>
          </a:p>
          <a:p>
            <a:pPr algn="l">
              <a:lnSpc>
                <a:spcPts val="3340"/>
              </a:lnSpc>
            </a:pPr>
            <a:r>
              <a:rPr lang="en-US" sz="2783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         • DÉPLOIEMENT SUR LE CLOUD (RENDER, AWS)</a:t>
            </a:r>
          </a:p>
          <a:p>
            <a:pPr algn="l">
              <a:lnSpc>
                <a:spcPts val="3340"/>
              </a:lnSpc>
            </a:pPr>
            <a:r>
              <a:rPr lang="en-US" sz="2783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         • NOTIFICATIONS PUSH EN TEMPS RÉEL</a:t>
            </a:r>
          </a:p>
          <a:p>
            <a:pPr algn="l">
              <a:lnSpc>
                <a:spcPts val="3340"/>
              </a:lnSpc>
            </a:pPr>
            <a:r>
              <a:rPr lang="en-US" sz="2783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         • MODE HORS LIGNE</a:t>
            </a:r>
          </a:p>
          <a:p>
            <a:pPr algn="l">
              <a:lnSpc>
                <a:spcPts val="3340"/>
              </a:lnSpc>
            </a:pPr>
            <a:r>
              <a:rPr lang="en-US" sz="2783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         • HISTORIQUE COMPLET DES MODIFICATIONS DES DOCUMENTS</a:t>
            </a:r>
          </a:p>
          <a:p>
            <a:pPr marL="601030" lvl="1" indent="-300515" algn="l">
              <a:lnSpc>
                <a:spcPts val="3340"/>
              </a:lnSpc>
              <a:buFont typeface="Arial"/>
              <a:buChar char="•"/>
            </a:pPr>
            <a:r>
              <a:rPr lang="en-US" sz="2783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COMPÉTENCES DÉVELOPPÉES :</a:t>
            </a:r>
          </a:p>
          <a:p>
            <a:pPr algn="l">
              <a:lnSpc>
                <a:spcPts val="3340"/>
              </a:lnSpc>
            </a:pPr>
            <a:r>
              <a:rPr lang="en-US" sz="2783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         • DÉVELOPPEMENT FULL-STACK (REACT + LARAVEL)</a:t>
            </a:r>
          </a:p>
          <a:p>
            <a:pPr algn="l">
              <a:lnSpc>
                <a:spcPts val="3340"/>
              </a:lnSpc>
            </a:pPr>
            <a:r>
              <a:rPr lang="en-US" sz="2783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         • CONCEPTION UML</a:t>
            </a:r>
          </a:p>
          <a:p>
            <a:pPr algn="l">
              <a:lnSpc>
                <a:spcPts val="3340"/>
              </a:lnSpc>
            </a:pPr>
            <a:r>
              <a:rPr lang="en-US" sz="2783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         • GESTION DE PROJET GIT</a:t>
            </a:r>
          </a:p>
          <a:p>
            <a:pPr algn="l">
              <a:lnSpc>
                <a:spcPts val="3340"/>
              </a:lnSpc>
            </a:pPr>
            <a:r>
              <a:rPr lang="en-US" sz="2783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         • GESTION D’AUTHENTIFICATION ET DROITS D’ACCÈS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13175" y="3256280"/>
            <a:ext cx="1875852" cy="187585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916A2"/>
            </a:solidFill>
          </p:spPr>
          <p:txBody>
            <a:bodyPr/>
            <a:lstStyle/>
            <a:p>
              <a:endParaRPr lang="ar-MA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>
            <a:off x="-968190" y="0"/>
            <a:ext cx="5154869" cy="5154869"/>
          </a:xfrm>
          <a:custGeom>
            <a:avLst/>
            <a:gdLst/>
            <a:ahLst/>
            <a:cxnLst/>
            <a:rect l="l" t="t" r="r" b="b"/>
            <a:pathLst>
              <a:path w="5154869" h="5154869">
                <a:moveTo>
                  <a:pt x="0" y="0"/>
                </a:moveTo>
                <a:lnTo>
                  <a:pt x="5154869" y="0"/>
                </a:lnTo>
                <a:lnTo>
                  <a:pt x="5154869" y="5154869"/>
                </a:lnTo>
                <a:lnTo>
                  <a:pt x="0" y="51548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6" name="Freeform 6"/>
          <p:cNvSpPr/>
          <p:nvPr/>
        </p:nvSpPr>
        <p:spPr>
          <a:xfrm rot="-10800000" flipV="1">
            <a:off x="-968190" y="5132131"/>
            <a:ext cx="5154869" cy="5154869"/>
          </a:xfrm>
          <a:custGeom>
            <a:avLst/>
            <a:gdLst/>
            <a:ahLst/>
            <a:cxnLst/>
            <a:rect l="l" t="t" r="r" b="b"/>
            <a:pathLst>
              <a:path w="5154869" h="5154869">
                <a:moveTo>
                  <a:pt x="0" y="5154869"/>
                </a:moveTo>
                <a:lnTo>
                  <a:pt x="5154869" y="5154869"/>
                </a:lnTo>
                <a:lnTo>
                  <a:pt x="5154869" y="0"/>
                </a:lnTo>
                <a:lnTo>
                  <a:pt x="0" y="0"/>
                </a:lnTo>
                <a:lnTo>
                  <a:pt x="0" y="51548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grpSp>
        <p:nvGrpSpPr>
          <p:cNvPr id="7" name="Group 7"/>
          <p:cNvGrpSpPr/>
          <p:nvPr/>
        </p:nvGrpSpPr>
        <p:grpSpPr>
          <a:xfrm>
            <a:off x="9221561" y="3256280"/>
            <a:ext cx="1875852" cy="187585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916A2"/>
            </a:solidFill>
          </p:spPr>
          <p:txBody>
            <a:bodyPr/>
            <a:lstStyle/>
            <a:p>
              <a:endParaRPr lang="ar-MA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1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001310" y="3256280"/>
            <a:ext cx="1875852" cy="1875852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916A2"/>
            </a:solidFill>
          </p:spPr>
          <p:txBody>
            <a:bodyPr/>
            <a:lstStyle/>
            <a:p>
              <a:endParaRPr lang="ar-MA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66675"/>
              <a:ext cx="660400" cy="6699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1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369315" y="7420785"/>
            <a:ext cx="2918685" cy="2918685"/>
          </a:xfrm>
          <a:custGeom>
            <a:avLst/>
            <a:gdLst/>
            <a:ahLst/>
            <a:cxnLst/>
            <a:rect l="l" t="t" r="r" b="b"/>
            <a:pathLst>
              <a:path w="2918685" h="2918685">
                <a:moveTo>
                  <a:pt x="0" y="0"/>
                </a:moveTo>
                <a:lnTo>
                  <a:pt x="2918685" y="0"/>
                </a:lnTo>
                <a:lnTo>
                  <a:pt x="2918685" y="2918685"/>
                </a:lnTo>
                <a:lnTo>
                  <a:pt x="0" y="29186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14" name="Freeform 14"/>
          <p:cNvSpPr/>
          <p:nvPr/>
        </p:nvSpPr>
        <p:spPr>
          <a:xfrm>
            <a:off x="5905625" y="3511398"/>
            <a:ext cx="890951" cy="1215938"/>
          </a:xfrm>
          <a:custGeom>
            <a:avLst/>
            <a:gdLst/>
            <a:ahLst/>
            <a:cxnLst/>
            <a:rect l="l" t="t" r="r" b="b"/>
            <a:pathLst>
              <a:path w="890951" h="1215938">
                <a:moveTo>
                  <a:pt x="0" y="0"/>
                </a:moveTo>
                <a:lnTo>
                  <a:pt x="890951" y="0"/>
                </a:lnTo>
                <a:lnTo>
                  <a:pt x="890951" y="1215938"/>
                </a:lnTo>
                <a:lnTo>
                  <a:pt x="0" y="12159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15" name="Freeform 15"/>
          <p:cNvSpPr/>
          <p:nvPr/>
        </p:nvSpPr>
        <p:spPr>
          <a:xfrm>
            <a:off x="9592439" y="3604648"/>
            <a:ext cx="1134095" cy="1179115"/>
          </a:xfrm>
          <a:custGeom>
            <a:avLst/>
            <a:gdLst/>
            <a:ahLst/>
            <a:cxnLst/>
            <a:rect l="l" t="t" r="r" b="b"/>
            <a:pathLst>
              <a:path w="1134095" h="1179115">
                <a:moveTo>
                  <a:pt x="0" y="0"/>
                </a:moveTo>
                <a:lnTo>
                  <a:pt x="1134095" y="0"/>
                </a:lnTo>
                <a:lnTo>
                  <a:pt x="1134095" y="1179115"/>
                </a:lnTo>
                <a:lnTo>
                  <a:pt x="0" y="11791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16" name="Freeform 16"/>
          <p:cNvSpPr/>
          <p:nvPr/>
        </p:nvSpPr>
        <p:spPr>
          <a:xfrm>
            <a:off x="13410003" y="3452617"/>
            <a:ext cx="1058466" cy="1333500"/>
          </a:xfrm>
          <a:custGeom>
            <a:avLst/>
            <a:gdLst/>
            <a:ahLst/>
            <a:cxnLst/>
            <a:rect l="l" t="t" r="r" b="b"/>
            <a:pathLst>
              <a:path w="1058466" h="1333500">
                <a:moveTo>
                  <a:pt x="0" y="0"/>
                </a:moveTo>
                <a:lnTo>
                  <a:pt x="1058465" y="0"/>
                </a:lnTo>
                <a:lnTo>
                  <a:pt x="1058465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17" name="TextBox 17"/>
          <p:cNvSpPr txBox="1"/>
          <p:nvPr/>
        </p:nvSpPr>
        <p:spPr>
          <a:xfrm>
            <a:off x="5947419" y="1028700"/>
            <a:ext cx="8872273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00"/>
              </a:lnSpc>
            </a:pPr>
            <a:r>
              <a:rPr lang="en-US" sz="9500" b="1" dirty="0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Flux </a:t>
            </a:r>
            <a:r>
              <a:rPr lang="en-US" sz="9500" b="1" dirty="0" err="1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Utilisateur</a:t>
            </a:r>
            <a:endParaRPr lang="en-US" sz="9500" b="1" dirty="0">
              <a:solidFill>
                <a:srgbClr val="0916A2"/>
              </a:solidFill>
              <a:latin typeface="Changa Bold"/>
              <a:ea typeface="Changa Bold"/>
              <a:cs typeface="Changa Bold"/>
              <a:sym typeface="Changa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186679" y="5306235"/>
            <a:ext cx="4112571" cy="381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0"/>
              </a:lnSpc>
            </a:pPr>
            <a:r>
              <a:rPr lang="en-US" sz="3175" b="1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OWNER</a:t>
            </a:r>
          </a:p>
          <a:p>
            <a:pPr algn="ctr">
              <a:lnSpc>
                <a:spcPts val="3810"/>
              </a:lnSpc>
            </a:pPr>
            <a:r>
              <a:rPr lang="en-US" sz="3175" b="1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|</a:t>
            </a:r>
          </a:p>
          <a:p>
            <a:pPr algn="ctr" rtl="1">
              <a:lnSpc>
                <a:spcPts val="3810"/>
              </a:lnSpc>
            </a:pPr>
            <a:r>
              <a:rPr lang="en-US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CRÉE SALLE</a:t>
            </a:r>
          </a:p>
          <a:p>
            <a:pPr algn="ctr">
              <a:lnSpc>
                <a:spcPts val="3810"/>
              </a:lnSpc>
            </a:pPr>
            <a:r>
              <a:rPr lang="en-US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|</a:t>
            </a:r>
          </a:p>
          <a:p>
            <a:pPr algn="ctr" rtl="1">
              <a:lnSpc>
                <a:spcPts val="3810"/>
              </a:lnSpc>
            </a:pPr>
            <a:r>
              <a:rPr lang="ar-EG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  <a:rtl/>
              </a:rPr>
              <a:t> </a:t>
            </a:r>
            <a:r>
              <a:rPr lang="en-US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INVITE</a:t>
            </a:r>
            <a:r>
              <a:rPr lang="ar-EG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  <a:rtl/>
              </a:rPr>
              <a:t> </a:t>
            </a:r>
          </a:p>
          <a:p>
            <a:pPr algn="ctr">
              <a:lnSpc>
                <a:spcPts val="3810"/>
              </a:lnSpc>
            </a:pPr>
            <a:r>
              <a:rPr lang="en-US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|</a:t>
            </a:r>
          </a:p>
          <a:p>
            <a:pPr algn="ctr" rtl="1">
              <a:lnSpc>
                <a:spcPts val="3810"/>
              </a:lnSpc>
            </a:pPr>
            <a:r>
              <a:rPr lang="en-US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VOIR DOCS</a:t>
            </a:r>
          </a:p>
          <a:p>
            <a:pPr algn="ctr" rtl="1">
              <a:lnSpc>
                <a:spcPts val="3810"/>
              </a:lnSpc>
            </a:pPr>
            <a:endParaRPr lang="en-US" sz="3175">
              <a:solidFill>
                <a:srgbClr val="0916A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995064" y="5306235"/>
            <a:ext cx="4112571" cy="381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0"/>
              </a:lnSpc>
            </a:pPr>
            <a:r>
              <a:rPr lang="en-US" sz="3175" b="1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WORKER</a:t>
            </a:r>
          </a:p>
          <a:p>
            <a:pPr algn="ctr">
              <a:lnSpc>
                <a:spcPts val="3810"/>
              </a:lnSpc>
            </a:pPr>
            <a:r>
              <a:rPr lang="en-US" sz="3175" b="1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|</a:t>
            </a:r>
          </a:p>
          <a:p>
            <a:pPr algn="ctr" rtl="1">
              <a:lnSpc>
                <a:spcPts val="3810"/>
              </a:lnSpc>
            </a:pPr>
            <a:r>
              <a:rPr lang="en-US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REJOINDRE SALLE</a:t>
            </a:r>
          </a:p>
          <a:p>
            <a:pPr algn="ctr">
              <a:lnSpc>
                <a:spcPts val="3810"/>
              </a:lnSpc>
            </a:pPr>
            <a:r>
              <a:rPr lang="en-US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|</a:t>
            </a:r>
          </a:p>
          <a:p>
            <a:pPr algn="ctr" rtl="1">
              <a:lnSpc>
                <a:spcPts val="3810"/>
              </a:lnSpc>
            </a:pPr>
            <a:r>
              <a:rPr lang="ar-EG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  <a:rtl/>
              </a:rPr>
              <a:t> </a:t>
            </a:r>
            <a:r>
              <a:rPr lang="en-US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LIER FOURNISSEUR</a:t>
            </a:r>
            <a:r>
              <a:rPr lang="ar-EG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  <a:rtl/>
              </a:rPr>
              <a:t> </a:t>
            </a:r>
          </a:p>
          <a:p>
            <a:pPr algn="ctr">
              <a:lnSpc>
                <a:spcPts val="3810"/>
              </a:lnSpc>
            </a:pPr>
            <a:r>
              <a:rPr lang="en-US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|</a:t>
            </a:r>
          </a:p>
          <a:p>
            <a:pPr algn="ctr" rtl="1">
              <a:lnSpc>
                <a:spcPts val="3810"/>
              </a:lnSpc>
            </a:pPr>
            <a:r>
              <a:rPr lang="en-US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VOIR DOCS</a:t>
            </a:r>
          </a:p>
          <a:p>
            <a:pPr algn="ctr" rtl="1">
              <a:lnSpc>
                <a:spcPts val="3810"/>
              </a:lnSpc>
            </a:pPr>
            <a:endParaRPr lang="en-US" sz="3175">
              <a:solidFill>
                <a:srgbClr val="0916A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774813" y="5306235"/>
            <a:ext cx="4461712" cy="421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10"/>
              </a:lnSpc>
            </a:pPr>
            <a:r>
              <a:rPr lang="en-US" sz="3175" b="1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SUPPLIER</a:t>
            </a:r>
          </a:p>
          <a:p>
            <a:pPr algn="ctr">
              <a:lnSpc>
                <a:spcPts val="3810"/>
              </a:lnSpc>
            </a:pPr>
            <a:r>
              <a:rPr lang="en-US" sz="3175" b="1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|</a:t>
            </a:r>
          </a:p>
          <a:p>
            <a:pPr algn="ctr">
              <a:lnSpc>
                <a:spcPts val="3450"/>
              </a:lnSpc>
            </a:pPr>
            <a:r>
              <a:rPr lang="en-US" sz="28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CRÉER DOCS</a:t>
            </a:r>
          </a:p>
          <a:p>
            <a:pPr algn="ctr">
              <a:lnSpc>
                <a:spcPts val="3450"/>
              </a:lnSpc>
            </a:pPr>
            <a:r>
              <a:rPr lang="en-US" sz="28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(PERSONNAL/ROOMS)</a:t>
            </a:r>
          </a:p>
          <a:p>
            <a:pPr algn="ctr">
              <a:lnSpc>
                <a:spcPts val="3810"/>
              </a:lnSpc>
            </a:pPr>
            <a:r>
              <a:rPr lang="en-US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|</a:t>
            </a:r>
          </a:p>
          <a:p>
            <a:pPr algn="ctr" rtl="1">
              <a:lnSpc>
                <a:spcPts val="3810"/>
              </a:lnSpc>
            </a:pPr>
            <a:r>
              <a:rPr lang="ar-EG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  <a:rtl/>
              </a:rPr>
              <a:t> </a:t>
            </a:r>
            <a:r>
              <a:rPr lang="en-US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PARTAGER DANS SALLE</a:t>
            </a:r>
            <a:r>
              <a:rPr lang="ar-EG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  <a:rtl/>
              </a:rPr>
              <a:t> </a:t>
            </a:r>
          </a:p>
          <a:p>
            <a:pPr algn="ctr">
              <a:lnSpc>
                <a:spcPts val="3810"/>
              </a:lnSpc>
            </a:pPr>
            <a:r>
              <a:rPr lang="en-US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|</a:t>
            </a:r>
          </a:p>
          <a:p>
            <a:pPr algn="ctr" rtl="1">
              <a:lnSpc>
                <a:spcPts val="3810"/>
              </a:lnSpc>
            </a:pPr>
            <a:r>
              <a:rPr lang="en-US" sz="3175">
                <a:solidFill>
                  <a:srgbClr val="0916A2"/>
                </a:solidFill>
                <a:latin typeface="Changa"/>
                <a:ea typeface="Changa"/>
                <a:cs typeface="Changa"/>
                <a:sym typeface="Changa"/>
              </a:rPr>
              <a:t>VOIR DOCS</a:t>
            </a:r>
          </a:p>
          <a:p>
            <a:pPr algn="ctr" rtl="1">
              <a:lnSpc>
                <a:spcPts val="3810"/>
              </a:lnSpc>
            </a:pPr>
            <a:endParaRPr lang="en-US" sz="3175">
              <a:solidFill>
                <a:srgbClr val="0916A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0" y="0"/>
            <a:ext cx="5154869" cy="5154869"/>
          </a:xfrm>
          <a:custGeom>
            <a:avLst/>
            <a:gdLst/>
            <a:ahLst/>
            <a:cxnLst/>
            <a:rect l="l" t="t" r="r" b="b"/>
            <a:pathLst>
              <a:path w="5154869" h="5154869">
                <a:moveTo>
                  <a:pt x="0" y="0"/>
                </a:moveTo>
                <a:lnTo>
                  <a:pt x="5154869" y="0"/>
                </a:lnTo>
                <a:lnTo>
                  <a:pt x="5154869" y="5154869"/>
                </a:lnTo>
                <a:lnTo>
                  <a:pt x="0" y="51548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3" name="Freeform 3"/>
          <p:cNvSpPr/>
          <p:nvPr/>
        </p:nvSpPr>
        <p:spPr>
          <a:xfrm rot="-10800000" flipV="1">
            <a:off x="0" y="5132131"/>
            <a:ext cx="5154869" cy="5154869"/>
          </a:xfrm>
          <a:custGeom>
            <a:avLst/>
            <a:gdLst/>
            <a:ahLst/>
            <a:cxnLst/>
            <a:rect l="l" t="t" r="r" b="b"/>
            <a:pathLst>
              <a:path w="5154869" h="5154869">
                <a:moveTo>
                  <a:pt x="0" y="5154869"/>
                </a:moveTo>
                <a:lnTo>
                  <a:pt x="5154869" y="5154869"/>
                </a:lnTo>
                <a:lnTo>
                  <a:pt x="5154869" y="0"/>
                </a:lnTo>
                <a:lnTo>
                  <a:pt x="0" y="0"/>
                </a:lnTo>
                <a:lnTo>
                  <a:pt x="0" y="51548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4" name="TextBox 4"/>
          <p:cNvSpPr txBox="1"/>
          <p:nvPr/>
        </p:nvSpPr>
        <p:spPr>
          <a:xfrm>
            <a:off x="4707863" y="1028700"/>
            <a:ext cx="8872273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00"/>
              </a:lnSpc>
            </a:pPr>
            <a:r>
              <a:rPr lang="en-US" sz="9500" b="1">
                <a:solidFill>
                  <a:srgbClr val="0916A2"/>
                </a:solidFill>
                <a:latin typeface="Changa Bold"/>
                <a:ea typeface="Changa Bold"/>
                <a:cs typeface="Changa Bold"/>
                <a:sym typeface="Changa Bold"/>
              </a:rPr>
              <a:t>Merci</a:t>
            </a:r>
          </a:p>
        </p:txBody>
      </p:sp>
      <p:sp>
        <p:nvSpPr>
          <p:cNvPr id="5" name="Freeform 5"/>
          <p:cNvSpPr/>
          <p:nvPr/>
        </p:nvSpPr>
        <p:spPr>
          <a:xfrm>
            <a:off x="13133131" y="5143500"/>
            <a:ext cx="5154869" cy="5154869"/>
          </a:xfrm>
          <a:custGeom>
            <a:avLst/>
            <a:gdLst/>
            <a:ahLst/>
            <a:cxnLst/>
            <a:rect l="l" t="t" r="r" b="b"/>
            <a:pathLst>
              <a:path w="5154869" h="5154869">
                <a:moveTo>
                  <a:pt x="0" y="0"/>
                </a:moveTo>
                <a:lnTo>
                  <a:pt x="5154869" y="0"/>
                </a:lnTo>
                <a:lnTo>
                  <a:pt x="5154869" y="5154869"/>
                </a:lnTo>
                <a:lnTo>
                  <a:pt x="0" y="51548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6" name="Freeform 6"/>
          <p:cNvSpPr/>
          <p:nvPr/>
        </p:nvSpPr>
        <p:spPr>
          <a:xfrm flipV="1">
            <a:off x="13133131" y="11369"/>
            <a:ext cx="5154869" cy="5154869"/>
          </a:xfrm>
          <a:custGeom>
            <a:avLst/>
            <a:gdLst/>
            <a:ahLst/>
            <a:cxnLst/>
            <a:rect l="l" t="t" r="r" b="b"/>
            <a:pathLst>
              <a:path w="5154869" h="5154869">
                <a:moveTo>
                  <a:pt x="0" y="5154869"/>
                </a:moveTo>
                <a:lnTo>
                  <a:pt x="5154869" y="5154869"/>
                </a:lnTo>
                <a:lnTo>
                  <a:pt x="5154869" y="0"/>
                </a:lnTo>
                <a:lnTo>
                  <a:pt x="0" y="0"/>
                </a:lnTo>
                <a:lnTo>
                  <a:pt x="0" y="515486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7" name="Freeform 7"/>
          <p:cNvSpPr/>
          <p:nvPr/>
        </p:nvSpPr>
        <p:spPr>
          <a:xfrm>
            <a:off x="8086725" y="2476500"/>
            <a:ext cx="2298334" cy="2298334"/>
          </a:xfrm>
          <a:custGeom>
            <a:avLst/>
            <a:gdLst/>
            <a:ahLst/>
            <a:cxnLst/>
            <a:rect l="l" t="t" r="r" b="b"/>
            <a:pathLst>
              <a:path w="2298334" h="2298334">
                <a:moveTo>
                  <a:pt x="0" y="0"/>
                </a:moveTo>
                <a:lnTo>
                  <a:pt x="2298334" y="0"/>
                </a:lnTo>
                <a:lnTo>
                  <a:pt x="2298334" y="2298334"/>
                </a:lnTo>
                <a:lnTo>
                  <a:pt x="0" y="22983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  <p:sp>
        <p:nvSpPr>
          <p:cNvPr id="8" name="Freeform 8"/>
          <p:cNvSpPr/>
          <p:nvPr/>
        </p:nvSpPr>
        <p:spPr>
          <a:xfrm>
            <a:off x="8373379" y="5166238"/>
            <a:ext cx="1725027" cy="1725027"/>
          </a:xfrm>
          <a:custGeom>
            <a:avLst/>
            <a:gdLst/>
            <a:ahLst/>
            <a:cxnLst/>
            <a:rect l="l" t="t" r="r" b="b"/>
            <a:pathLst>
              <a:path w="1725027" h="1725027">
                <a:moveTo>
                  <a:pt x="0" y="0"/>
                </a:moveTo>
                <a:lnTo>
                  <a:pt x="1725027" y="0"/>
                </a:lnTo>
                <a:lnTo>
                  <a:pt x="1725027" y="1725027"/>
                </a:lnTo>
                <a:lnTo>
                  <a:pt x="0" y="1725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ar-MA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526</Words>
  <Application>Microsoft Office PowerPoint</Application>
  <PresentationFormat>Custom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Changa Semi-Bold</vt:lpstr>
      <vt:lpstr>Arial</vt:lpstr>
      <vt:lpstr>Calibri</vt:lpstr>
      <vt:lpstr>Changa Bold</vt:lpstr>
      <vt:lpstr>Changa Medium</vt:lpstr>
      <vt:lpstr>Changa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 اصفر و اسود حديث استراتيجية تسويق</dc:title>
  <dc:creator>Amine Nabou</dc:creator>
  <cp:lastModifiedBy>NABOU AMINE</cp:lastModifiedBy>
  <cp:revision>2</cp:revision>
  <dcterms:created xsi:type="dcterms:W3CDTF">2006-08-16T00:00:00Z</dcterms:created>
  <dcterms:modified xsi:type="dcterms:W3CDTF">2026-06-12T08:06:57Z</dcterms:modified>
  <dc:identifier>DAHMEMPTxjg</dc:identifier>
</cp:coreProperties>
</file>